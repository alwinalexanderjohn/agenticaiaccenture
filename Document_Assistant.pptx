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64E3B"/>
          </a:solidFill>
          <a:ln/>
        </p:spPr>
      </p:sp>
      <p:sp>
        <p:nvSpPr>
          <p:cNvPr id="3" name="Shape 1"/>
          <p:cNvSpPr/>
          <p:nvPr/>
        </p:nvSpPr>
        <p:spPr>
          <a:xfrm>
            <a:off x="6400800" y="-914400"/>
            <a:ext cx="4114800" cy="4114800"/>
          </a:xfrm>
          <a:prstGeom prst="ellipse">
            <a:avLst/>
          </a:prstGeom>
          <a:solidFill>
            <a:srgbClr val="065F46"/>
          </a:solidFill>
          <a:ln w="12700">
            <a:solidFill>
              <a:srgbClr val="065F4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046720" y="3566160"/>
            <a:ext cx="2011680" cy="2011680"/>
          </a:xfrm>
          <a:prstGeom prst="ellipse">
            <a:avLst/>
          </a:prstGeom>
          <a:solidFill>
            <a:srgbClr val="047857"/>
          </a:solidFill>
          <a:ln w="12700">
            <a:solidFill>
              <a:srgbClr val="04785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-914400" y="3291840"/>
            <a:ext cx="2560320" cy="2560320"/>
          </a:xfrm>
          <a:prstGeom prst="ellipse">
            <a:avLst/>
          </a:prstGeom>
          <a:solidFill>
            <a:srgbClr val="065F46"/>
          </a:solidFill>
          <a:ln w="12700">
            <a:solidFill>
              <a:srgbClr val="065F4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21792" y="713232"/>
            <a:ext cx="118872" cy="38404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84632" y="841248"/>
            <a:ext cx="393192" cy="128016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005840"/>
            <a:ext cx="77724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Document Assistant</a:t>
            </a:r>
            <a:endParaRPr lang="en-US" sz="44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1920240"/>
            <a:ext cx="6858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A7F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AI-Powered Multi-Agent System</a:t>
            </a:r>
            <a:endParaRPr lang="en-US" sz="21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2450592"/>
            <a:ext cx="7315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1FA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LangGraph  ·  LangChain  ·  OpenAI GPT-4o  ·  Streamlit  ·  Python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48640" y="2907792"/>
            <a:ext cx="3474720" cy="27432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3063240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4D6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· Code Walkthrough · Agents &amp; State · Tools · Outputs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48640" y="4462272"/>
            <a:ext cx="2651760" cy="420624"/>
          </a:xfrm>
          <a:prstGeom prst="roundRect">
            <a:avLst>
              <a:gd name="adj" fmla="val 10870"/>
            </a:avLst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8640" y="4462272"/>
            <a:ext cx="2651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🏥  Document Intelligence Platform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9FAF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64E3B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74320" y="45720"/>
            <a:ext cx="8229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📋  Agenda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8503920" y="45720"/>
            <a:ext cx="594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7F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2/20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D1FAE5"/>
          </a:solidFill>
          <a:ln/>
        </p:spPr>
      </p:sp>
      <p:sp>
        <p:nvSpPr>
          <p:cNvPr id="7" name="Shape 5"/>
          <p:cNvSpPr/>
          <p:nvPr/>
        </p:nvSpPr>
        <p:spPr>
          <a:xfrm>
            <a:off x="320040" y="749808"/>
            <a:ext cx="4206240" cy="1143000"/>
          </a:xfrm>
          <a:prstGeom prst="roundRect">
            <a:avLst>
              <a:gd name="adj" fmla="val 6400"/>
            </a:avLst>
          </a:prstGeom>
          <a:solidFill>
            <a:srgbClr val="D1FAE5"/>
          </a:solidFill>
          <a:ln w="19050">
            <a:solidFill>
              <a:srgbClr val="10B98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84632" y="1097280"/>
            <a:ext cx="438912" cy="438912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84632" y="109728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051560" y="877824"/>
            <a:ext cx="333756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Overview &amp; Architecture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754880" y="749808"/>
            <a:ext cx="4206240" cy="1143000"/>
          </a:xfrm>
          <a:prstGeom prst="roundRect">
            <a:avLst>
              <a:gd name="adj" fmla="val 6400"/>
            </a:avLst>
          </a:prstGeom>
          <a:solidFill>
            <a:srgbClr val="EFF6FF"/>
          </a:solidFill>
          <a:ln w="19050">
            <a:solidFill>
              <a:srgbClr val="1D4ED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919472" y="1097280"/>
            <a:ext cx="438912" cy="438912"/>
          </a:xfrm>
          <a:prstGeom prst="ellipse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919472" y="109728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0" y="877824"/>
            <a:ext cx="333756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File Structure &amp; Code Walkthrough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320040" y="2048256"/>
            <a:ext cx="4206240" cy="1143000"/>
          </a:xfrm>
          <a:prstGeom prst="roundRect">
            <a:avLst>
              <a:gd name="adj" fmla="val 6400"/>
            </a:avLst>
          </a:prstGeom>
          <a:solidFill>
            <a:srgbClr val="F5F3FF"/>
          </a:solidFill>
          <a:ln w="19050">
            <a:solidFill>
              <a:srgbClr val="7C3AED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84632" y="2395728"/>
            <a:ext cx="438912" cy="438912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84632" y="239572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1051560" y="2176272"/>
            <a:ext cx="333756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AgentState — 11 Fields &amp; Reducers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4754880" y="2048256"/>
            <a:ext cx="4206240" cy="1143000"/>
          </a:xfrm>
          <a:prstGeom prst="roundRect">
            <a:avLst>
              <a:gd name="adj" fmla="val 6400"/>
            </a:avLst>
          </a:prstGeom>
          <a:solidFill>
            <a:srgbClr val="CFFAFE"/>
          </a:solidFill>
          <a:ln w="19050">
            <a:solidFill>
              <a:srgbClr val="0891B2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919472" y="2395728"/>
            <a:ext cx="438912" cy="438912"/>
          </a:xfrm>
          <a:prstGeom prst="ellipse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919472" y="239572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5486400" y="2176272"/>
            <a:ext cx="333756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LangGraph Nodes (5) &amp; Workflow Graph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20040" y="3346704"/>
            <a:ext cx="4206240" cy="1143000"/>
          </a:xfrm>
          <a:prstGeom prst="roundRect">
            <a:avLst>
              <a:gd name="adj" fmla="val 6400"/>
            </a:avLst>
          </a:prstGeom>
          <a:solidFill>
            <a:srgbClr val="FFFBEB"/>
          </a:solidFill>
          <a:ln w="19050">
            <a:solidFill>
              <a:srgbClr val="D9770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84632" y="3694176"/>
            <a:ext cx="438912" cy="438912"/>
          </a:xfrm>
          <a:prstGeom prst="ellipse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84632" y="3694176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1051560" y="3474720"/>
            <a:ext cx="333756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Tools: Calculator &amp; Document Reader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4754880" y="3346704"/>
            <a:ext cx="4206240" cy="1143000"/>
          </a:xfrm>
          <a:prstGeom prst="roundRect">
            <a:avLst>
              <a:gd name="adj" fmla="val 6400"/>
            </a:avLst>
          </a:prstGeom>
          <a:solidFill>
            <a:srgbClr val="FFF1F2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919472" y="3694176"/>
            <a:ext cx="438912" cy="438912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4919472" y="3694176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5486400" y="3474720"/>
            <a:ext cx="333756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Step-by-Step Execution &amp; Output Schemas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9FAF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64E3B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74320" y="45720"/>
            <a:ext cx="8229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🏥  System Overview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8503920" y="45720"/>
            <a:ext cx="594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7F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3/20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D1FAE5"/>
          </a:solidFill>
          <a:ln/>
        </p:spPr>
      </p:sp>
      <p:sp>
        <p:nvSpPr>
          <p:cNvPr id="7" name="Shape 5"/>
          <p:cNvSpPr/>
          <p:nvPr/>
        </p:nvSpPr>
        <p:spPr>
          <a:xfrm>
            <a:off x="274320" y="685800"/>
            <a:ext cx="4114800" cy="4224528"/>
          </a:xfrm>
          <a:prstGeom prst="roundRect">
            <a:avLst>
              <a:gd name="adj" fmla="val 1778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74320" y="731520"/>
            <a:ext cx="4114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64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Does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384048" y="1170432"/>
            <a:ext cx="3886200" cy="402336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📄  Upload PDF, CSV, TXT, Markdown documents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384048" y="1618488"/>
            <a:ext cx="3886200" cy="402336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🔍  Automatically classify user intent (Q&amp;A / Summarize / Calculate)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384048" y="2066544"/>
            <a:ext cx="3886200" cy="402336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🤖  Route to the correct specialist AI agent via LangGraph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384048" y="2514600"/>
            <a:ext cx="3886200" cy="402336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  Retrieve relevant content using keyword search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384048" y="2962656"/>
            <a:ext cx="3886200" cy="402336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🧮  Perform safe arithmetic on document data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384048" y="3410712"/>
            <a:ext cx="3886200" cy="402336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💾  Persist conversation state with InMemorySaver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384048" y="3858768"/>
            <a:ext cx="3886200" cy="402336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🌐  Serve via Streamlit with 3 interactive tabs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663440" y="685800"/>
            <a:ext cx="4160520" cy="4224528"/>
          </a:xfrm>
          <a:prstGeom prst="roundRect">
            <a:avLst>
              <a:gd name="adj" fmla="val 1758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663440" y="731520"/>
            <a:ext cx="4160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64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Specialist Agents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4846320" y="1170432"/>
            <a:ext cx="3794760" cy="713232"/>
          </a:xfrm>
          <a:prstGeom prst="roundRect">
            <a:avLst>
              <a:gd name="adj" fmla="val 8974"/>
            </a:avLst>
          </a:prstGeom>
          <a:solidFill>
            <a:srgbClr val="EFF6FF"/>
          </a:solidFill>
          <a:ln w="19050">
            <a:solidFill>
              <a:srgbClr val="1D4ED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956048" y="1207008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Q&amp;A Agent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4956048" y="1435608"/>
            <a:ext cx="3657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Answers factual questions from docs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Tool: document_reader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846320" y="1975104"/>
            <a:ext cx="3794760" cy="713232"/>
          </a:xfrm>
          <a:prstGeom prst="roundRect">
            <a:avLst>
              <a:gd name="adj" fmla="val 8974"/>
            </a:avLst>
          </a:prstGeom>
          <a:solidFill>
            <a:srgbClr val="F5F3FF"/>
          </a:solidFill>
          <a:ln w="19050">
            <a:solidFill>
              <a:srgbClr val="7C3AED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956048" y="201168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Summarization Agent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4956048" y="2240280"/>
            <a:ext cx="3657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Extracts summaries &amp; key points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Tool: document_reader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846320" y="2779776"/>
            <a:ext cx="3794760" cy="713232"/>
          </a:xfrm>
          <a:prstGeom prst="roundRect">
            <a:avLst>
              <a:gd name="adj" fmla="val 8974"/>
            </a:avLst>
          </a:prstGeom>
          <a:solidFill>
            <a:srgbClr val="FFF1F2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956048" y="281635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Calculation Agent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4956048" y="3044952"/>
            <a:ext cx="3657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Retrieves data &amp; runs arithmetic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Tools: document_reader + calculator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4846320" y="3611880"/>
            <a:ext cx="914400" cy="1188720"/>
          </a:xfrm>
          <a:prstGeom prst="roundRect">
            <a:avLst>
              <a:gd name="adj" fmla="val 8000"/>
            </a:avLst>
          </a:prstGeom>
          <a:solidFill>
            <a:srgbClr val="D1FAE5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4846320" y="3657600"/>
            <a:ext cx="914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64E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800" dirty="0"/>
          </a:p>
        </p:txBody>
      </p:sp>
      <p:sp>
        <p:nvSpPr>
          <p:cNvPr id="29" name="Text 27"/>
          <p:cNvSpPr txBox="1"/>
          <p:nvPr/>
        </p:nvSpPr>
        <p:spPr>
          <a:xfrm>
            <a:off x="4846320" y="4151376"/>
            <a:ext cx="914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Nodes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852160" y="3611880"/>
            <a:ext cx="914400" cy="1188720"/>
          </a:xfrm>
          <a:prstGeom prst="roundRect">
            <a:avLst>
              <a:gd name="adj" fmla="val 8000"/>
            </a:avLst>
          </a:prstGeom>
          <a:solidFill>
            <a:srgbClr val="D1FAE5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5852160" y="3657600"/>
            <a:ext cx="914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64E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</a:t>
            </a:r>
            <a:endParaRPr lang="en-US" sz="2800" dirty="0"/>
          </a:p>
        </p:txBody>
      </p:sp>
      <p:sp>
        <p:nvSpPr>
          <p:cNvPr id="32" name="Text 30"/>
          <p:cNvSpPr txBox="1"/>
          <p:nvPr/>
        </p:nvSpPr>
        <p:spPr>
          <a:xfrm>
            <a:off x="5852160" y="4151376"/>
            <a:ext cx="914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Fields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6858000" y="3611880"/>
            <a:ext cx="914400" cy="1188720"/>
          </a:xfrm>
          <a:prstGeom prst="roundRect">
            <a:avLst>
              <a:gd name="adj" fmla="val 8000"/>
            </a:avLst>
          </a:prstGeom>
          <a:solidFill>
            <a:srgbClr val="D1FAE5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6858000" y="3657600"/>
            <a:ext cx="914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64E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800" dirty="0"/>
          </a:p>
        </p:txBody>
      </p:sp>
      <p:sp>
        <p:nvSpPr>
          <p:cNvPr id="35" name="Text 33"/>
          <p:cNvSpPr txBox="1"/>
          <p:nvPr/>
        </p:nvSpPr>
        <p:spPr>
          <a:xfrm>
            <a:off x="6858000" y="4151376"/>
            <a:ext cx="914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7863840" y="3611880"/>
            <a:ext cx="914400" cy="1188720"/>
          </a:xfrm>
          <a:prstGeom prst="roundRect">
            <a:avLst>
              <a:gd name="adj" fmla="val 8000"/>
            </a:avLst>
          </a:prstGeom>
          <a:solidFill>
            <a:srgbClr val="D1FAE5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7863840" y="3657600"/>
            <a:ext cx="914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64E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800" dirty="0"/>
          </a:p>
        </p:txBody>
      </p:sp>
      <p:sp>
        <p:nvSpPr>
          <p:cNvPr id="38" name="Text 36"/>
          <p:cNvSpPr txBox="1"/>
          <p:nvPr/>
        </p:nvSpPr>
        <p:spPr>
          <a:xfrm>
            <a:off x="7863840" y="4151376"/>
            <a:ext cx="914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Types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9FAF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64E3B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74320" y="45720"/>
            <a:ext cx="8229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🔧  Full Architecture — Request to Response Flow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8503920" y="45720"/>
            <a:ext cx="594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7F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4/20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D1FAE5"/>
          </a:solidFill>
          <a:ln/>
        </p:spPr>
      </p:sp>
      <p:sp>
        <p:nvSpPr>
          <p:cNvPr id="7" name="Shape 5"/>
          <p:cNvSpPr/>
          <p:nvPr/>
        </p:nvSpPr>
        <p:spPr>
          <a:xfrm>
            <a:off x="274320" y="749808"/>
            <a:ext cx="1371600" cy="475488"/>
          </a:xfrm>
          <a:prstGeom prst="roundRect">
            <a:avLst>
              <a:gd name="adj" fmla="val 11538"/>
            </a:avLst>
          </a:prstGeom>
          <a:solidFill>
            <a:srgbClr val="D1FAE5"/>
          </a:solidFill>
          <a:ln w="15240">
            <a:solidFill>
              <a:srgbClr val="10B98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74320" y="749808"/>
            <a:ext cx="1371600" cy="47548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64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064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1664208" y="987552"/>
            <a:ext cx="667512" cy="0"/>
          </a:xfrm>
          <a:prstGeom prst="line">
            <a:avLst/>
          </a:prstGeom>
          <a:noFill/>
          <a:ln w="17780">
            <a:solidFill>
              <a:srgbClr val="10B981"/>
            </a:solidFill>
            <a:prstDash val="solid"/>
            <a:tailEnd type="arrow"/>
          </a:ln>
        </p:spPr>
      </p:sp>
      <p:sp>
        <p:nvSpPr>
          <p:cNvPr id="10" name="Shape 8"/>
          <p:cNvSpPr/>
          <p:nvPr/>
        </p:nvSpPr>
        <p:spPr>
          <a:xfrm>
            <a:off x="2331720" y="749808"/>
            <a:ext cx="1920240" cy="475488"/>
          </a:xfrm>
          <a:prstGeom prst="roundRect">
            <a:avLst>
              <a:gd name="adj" fmla="val 11538"/>
            </a:avLst>
          </a:prstGeom>
          <a:solidFill>
            <a:srgbClr val="D1FAE5"/>
          </a:solidFill>
          <a:ln w="15240">
            <a:solidFill>
              <a:srgbClr val="10B98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331720" y="749808"/>
            <a:ext cx="1920240" cy="47548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64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Streamlit UI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064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(3 Tabs)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270248" y="987552"/>
            <a:ext cx="621792" cy="0"/>
          </a:xfrm>
          <a:prstGeom prst="line">
            <a:avLst/>
          </a:prstGeom>
          <a:noFill/>
          <a:ln w="17780">
            <a:solidFill>
              <a:srgbClr val="10B981"/>
            </a:solidFill>
            <a:prstDash val="solid"/>
            <a:tailEnd type="arrow"/>
          </a:ln>
        </p:spPr>
      </p:sp>
      <p:sp>
        <p:nvSpPr>
          <p:cNvPr id="13" name="Shape 11"/>
          <p:cNvSpPr/>
          <p:nvPr/>
        </p:nvSpPr>
        <p:spPr>
          <a:xfrm>
            <a:off x="4892040" y="749808"/>
            <a:ext cx="2011680" cy="475488"/>
          </a:xfrm>
          <a:prstGeom prst="roundRect">
            <a:avLst>
              <a:gd name="adj" fmla="val 11538"/>
            </a:avLst>
          </a:prstGeom>
          <a:solidFill>
            <a:srgbClr val="D1FAE5"/>
          </a:solidFill>
          <a:ln w="15240">
            <a:solidFill>
              <a:srgbClr val="10B98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892040" y="749808"/>
            <a:ext cx="2011680" cy="47548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64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DocumentAssistant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064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.process_message()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922008" y="987552"/>
            <a:ext cx="576072" cy="0"/>
          </a:xfrm>
          <a:prstGeom prst="line">
            <a:avLst/>
          </a:prstGeom>
          <a:noFill/>
          <a:ln w="17780">
            <a:solidFill>
              <a:srgbClr val="10B981"/>
            </a:solidFill>
            <a:prstDash val="solid"/>
            <a:tailEnd type="arrow"/>
          </a:ln>
        </p:spPr>
      </p:sp>
      <p:sp>
        <p:nvSpPr>
          <p:cNvPr id="16" name="Shape 14"/>
          <p:cNvSpPr/>
          <p:nvPr/>
        </p:nvSpPr>
        <p:spPr>
          <a:xfrm>
            <a:off x="7498080" y="749808"/>
            <a:ext cx="1371600" cy="475488"/>
          </a:xfrm>
          <a:prstGeom prst="roundRect">
            <a:avLst>
              <a:gd name="adj" fmla="val 11538"/>
            </a:avLst>
          </a:prstGeom>
          <a:solidFill>
            <a:srgbClr val="DBEAFE"/>
          </a:solidFill>
          <a:ln w="15240">
            <a:solidFill>
              <a:srgbClr val="1D4ED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498080" y="749808"/>
            <a:ext cx="1371600" cy="47548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LangGraph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.invoke()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274320" y="1371600"/>
            <a:ext cx="8595360" cy="3401568"/>
          </a:xfrm>
          <a:prstGeom prst="roundRect">
            <a:avLst>
              <a:gd name="adj" fmla="val 2688"/>
            </a:avLst>
          </a:prstGeom>
          <a:solidFill>
            <a:srgbClr val="F0FDF4"/>
          </a:solidFill>
          <a:ln w="19050">
            <a:solidFill>
              <a:srgbClr val="10B981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384048" y="1408176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64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LangGraph  StateGraph  (agent.py)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3337560" y="1719072"/>
            <a:ext cx="2468880" cy="502920"/>
          </a:xfrm>
          <a:prstGeom prst="roundRect">
            <a:avLst>
              <a:gd name="adj" fmla="val 10909"/>
            </a:avLst>
          </a:prstGeom>
          <a:solidFill>
            <a:srgbClr val="DBEAFE"/>
          </a:solidFill>
          <a:ln w="15240">
            <a:solidFill>
              <a:srgbClr val="1D4ED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337560" y="1719072"/>
            <a:ext cx="2468880" cy="50292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classify_intent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(Router Node)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337560" y="2221992"/>
            <a:ext cx="-2194560" cy="658368"/>
          </a:xfrm>
          <a:prstGeom prst="line">
            <a:avLst/>
          </a:prstGeom>
          <a:noFill/>
          <a:ln w="15240">
            <a:solidFill>
              <a:srgbClr val="1D4ED8"/>
            </a:solidFill>
            <a:prstDash val="solid"/>
            <a:tailEnd type="arrow"/>
          </a:ln>
        </p:spPr>
      </p:sp>
      <p:sp>
        <p:nvSpPr>
          <p:cNvPr id="23" name="Shape 21"/>
          <p:cNvSpPr/>
          <p:nvPr/>
        </p:nvSpPr>
        <p:spPr>
          <a:xfrm>
            <a:off x="4572000" y="2221992"/>
            <a:ext cx="0" cy="566928"/>
          </a:xfrm>
          <a:prstGeom prst="line">
            <a:avLst/>
          </a:prstGeom>
          <a:noFill/>
          <a:ln w="17780">
            <a:solidFill>
              <a:srgbClr val="7C3AED"/>
            </a:solidFill>
            <a:prstDash val="solid"/>
            <a:tailEnd type="arrow"/>
          </a:ln>
        </p:spPr>
      </p:sp>
      <p:sp>
        <p:nvSpPr>
          <p:cNvPr id="24" name="Shape 22"/>
          <p:cNvSpPr/>
          <p:nvPr/>
        </p:nvSpPr>
        <p:spPr>
          <a:xfrm>
            <a:off x="5806440" y="2221992"/>
            <a:ext cx="1828800" cy="658368"/>
          </a:xfrm>
          <a:prstGeom prst="line">
            <a:avLst/>
          </a:prstGeom>
          <a:noFill/>
          <a:ln w="15240">
            <a:solidFill>
              <a:srgbClr val="DC2626"/>
            </a:solidFill>
            <a:prstDash val="solid"/>
            <a:tailEnd type="arrow"/>
          </a:ln>
        </p:spPr>
      </p:sp>
      <p:sp>
        <p:nvSpPr>
          <p:cNvPr id="25" name="Shape 23"/>
          <p:cNvSpPr/>
          <p:nvPr/>
        </p:nvSpPr>
        <p:spPr>
          <a:xfrm>
            <a:off x="411480" y="2788920"/>
            <a:ext cx="2011680" cy="530352"/>
          </a:xfrm>
          <a:prstGeom prst="roundRect">
            <a:avLst>
              <a:gd name="adj" fmla="val 10345"/>
            </a:avLst>
          </a:prstGeom>
          <a:solidFill>
            <a:srgbClr val="EFF6FF"/>
          </a:solidFill>
          <a:ln w="15240">
            <a:solidFill>
              <a:srgbClr val="1D4ED8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411480" y="2788920"/>
            <a:ext cx="2011680" cy="530352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 qa_agent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(Q&amp;A)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566160" y="2788920"/>
            <a:ext cx="2011680" cy="530352"/>
          </a:xfrm>
          <a:prstGeom prst="roundRect">
            <a:avLst>
              <a:gd name="adj" fmla="val 10345"/>
            </a:avLst>
          </a:prstGeom>
          <a:solidFill>
            <a:srgbClr val="F5F3FF"/>
          </a:solidFill>
          <a:ln w="15240">
            <a:solidFill>
              <a:srgbClr val="7C3AED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3566160" y="2788920"/>
            <a:ext cx="2011680" cy="530352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 summarization_agent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(Summary)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6720840" y="2788920"/>
            <a:ext cx="1828800" cy="530352"/>
          </a:xfrm>
          <a:prstGeom prst="roundRect">
            <a:avLst>
              <a:gd name="adj" fmla="val 10345"/>
            </a:avLst>
          </a:prstGeom>
          <a:solidFill>
            <a:srgbClr val="FFF1F2"/>
          </a:solidFill>
          <a:ln w="1524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720840" y="2788920"/>
            <a:ext cx="1828800" cy="530352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④ calculation_agent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(Calc)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1417320" y="3319272"/>
            <a:ext cx="2331720" cy="502920"/>
          </a:xfrm>
          <a:prstGeom prst="line">
            <a:avLst/>
          </a:prstGeom>
          <a:noFill/>
          <a:ln w="13970">
            <a:solidFill>
              <a:srgbClr val="374151"/>
            </a:solidFill>
            <a:prstDash val="solid"/>
            <a:tailEnd type="arrow"/>
          </a:ln>
        </p:spPr>
      </p:sp>
      <p:sp>
        <p:nvSpPr>
          <p:cNvPr id="32" name="Shape 30"/>
          <p:cNvSpPr/>
          <p:nvPr/>
        </p:nvSpPr>
        <p:spPr>
          <a:xfrm>
            <a:off x="4572000" y="3319272"/>
            <a:ext cx="0" cy="521208"/>
          </a:xfrm>
          <a:prstGeom prst="line">
            <a:avLst/>
          </a:prstGeom>
          <a:noFill/>
          <a:ln w="17780">
            <a:solidFill>
              <a:srgbClr val="10B981"/>
            </a:solidFill>
            <a:prstDash val="solid"/>
            <a:tailEnd type="arrow"/>
          </a:ln>
        </p:spPr>
      </p:sp>
      <p:sp>
        <p:nvSpPr>
          <p:cNvPr id="33" name="Shape 31"/>
          <p:cNvSpPr/>
          <p:nvPr/>
        </p:nvSpPr>
        <p:spPr>
          <a:xfrm>
            <a:off x="7635240" y="3319272"/>
            <a:ext cx="-2011680" cy="502920"/>
          </a:xfrm>
          <a:prstGeom prst="line">
            <a:avLst/>
          </a:prstGeom>
          <a:noFill/>
          <a:ln w="13970">
            <a:solidFill>
              <a:srgbClr val="374151"/>
            </a:solidFill>
            <a:prstDash val="solid"/>
            <a:tailEnd type="arrow"/>
          </a:ln>
        </p:spPr>
      </p:sp>
      <p:sp>
        <p:nvSpPr>
          <p:cNvPr id="34" name="Shape 32"/>
          <p:cNvSpPr/>
          <p:nvPr/>
        </p:nvSpPr>
        <p:spPr>
          <a:xfrm>
            <a:off x="3337560" y="3822192"/>
            <a:ext cx="2468880" cy="502920"/>
          </a:xfrm>
          <a:prstGeom prst="roundRect">
            <a:avLst>
              <a:gd name="adj" fmla="val 10909"/>
            </a:avLst>
          </a:prstGeom>
          <a:solidFill>
            <a:srgbClr val="D1FAE5"/>
          </a:solidFill>
          <a:ln w="15240">
            <a:solidFill>
              <a:srgbClr val="10B981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3337560" y="3822192"/>
            <a:ext cx="2468880" cy="50292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64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⑤ update_memory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064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(Memory &amp; Summary)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5824728" y="4073652"/>
            <a:ext cx="896112" cy="0"/>
          </a:xfrm>
          <a:prstGeom prst="line">
            <a:avLst/>
          </a:prstGeom>
          <a:noFill/>
          <a:ln w="17780">
            <a:solidFill>
              <a:srgbClr val="10B981"/>
            </a:solidFill>
            <a:prstDash val="solid"/>
            <a:tailEnd type="arrow"/>
          </a:ln>
        </p:spPr>
      </p:sp>
      <p:sp>
        <p:nvSpPr>
          <p:cNvPr id="37" name="Shape 35"/>
          <p:cNvSpPr/>
          <p:nvPr/>
        </p:nvSpPr>
        <p:spPr>
          <a:xfrm>
            <a:off x="6720840" y="3877056"/>
            <a:ext cx="457200" cy="402336"/>
          </a:xfrm>
          <a:prstGeom prst="ellipse">
            <a:avLst/>
          </a:prstGeom>
          <a:solidFill>
            <a:srgbClr val="064E3B"/>
          </a:solidFill>
          <a:ln w="12700">
            <a:solidFill>
              <a:srgbClr val="064E3B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6720840" y="3877056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7269480" y="1463040"/>
            <a:ext cx="1508760" cy="2267712"/>
          </a:xfrm>
          <a:prstGeom prst="roundRect">
            <a:avLst>
              <a:gd name="adj" fmla="val 4242"/>
            </a:avLst>
          </a:prstGeom>
          <a:solidFill>
            <a:srgbClr val="FFFBEB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7269480" y="150876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</a:t>
            </a:r>
            <a:endParaRPr lang="en-US" sz="900" dirty="0"/>
          </a:p>
        </p:txBody>
      </p:sp>
      <p:sp>
        <p:nvSpPr>
          <p:cNvPr id="41" name="Text 39"/>
          <p:cNvSpPr txBox="1"/>
          <p:nvPr/>
        </p:nvSpPr>
        <p:spPr>
          <a:xfrm>
            <a:off x="7360920" y="1828800"/>
            <a:ext cx="1325880" cy="5303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📄 document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_reader</a:t>
            </a:r>
            <a:endParaRPr lang="en-US" sz="950" dirty="0"/>
          </a:p>
        </p:txBody>
      </p:sp>
      <p:sp>
        <p:nvSpPr>
          <p:cNvPr id="42" name="Text 40"/>
          <p:cNvSpPr txBox="1"/>
          <p:nvPr/>
        </p:nvSpPr>
        <p:spPr>
          <a:xfrm>
            <a:off x="7360920" y="2487168"/>
            <a:ext cx="1325880" cy="5303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🧮 calculator</a:t>
            </a:r>
            <a:endParaRPr lang="en-US" sz="950" dirty="0"/>
          </a:p>
        </p:txBody>
      </p:sp>
      <p:sp>
        <p:nvSpPr>
          <p:cNvPr id="43" name="Text 41"/>
          <p:cNvSpPr txBox="1"/>
          <p:nvPr/>
        </p:nvSpPr>
        <p:spPr>
          <a:xfrm>
            <a:off x="320040" y="4773168"/>
            <a:ext cx="8503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InMemorySaver — checkpoints AgentState after each node, keyed by thread_id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9FAF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64E3B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74320" y="45720"/>
            <a:ext cx="8229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📁  Python File Structure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8503920" y="45720"/>
            <a:ext cx="594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7F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5/20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D1FAE5"/>
          </a:solidFill>
          <a:ln/>
        </p:spPr>
      </p:sp>
      <p:sp>
        <p:nvSpPr>
          <p:cNvPr id="7" name="Shape 5"/>
          <p:cNvSpPr/>
          <p:nvPr/>
        </p:nvSpPr>
        <p:spPr>
          <a:xfrm>
            <a:off x="274320" y="713232"/>
            <a:ext cx="8595360" cy="493776"/>
          </a:xfrm>
          <a:prstGeom prst="roundRect">
            <a:avLst>
              <a:gd name="adj" fmla="val 11111"/>
            </a:avLst>
          </a:prstGeom>
          <a:solidFill>
            <a:srgbClr val="F5F3FF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84048" y="749808"/>
            <a:ext cx="1828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src/schemas.py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2212848" y="822960"/>
            <a:ext cx="18288" cy="27432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304288" y="749808"/>
            <a:ext cx="6400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Pydantic v2 models: UserIntent, AnswerResponse, SummarizationResponse, CalculationResponse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74320" y="1248156"/>
            <a:ext cx="8595360" cy="493776"/>
          </a:xfrm>
          <a:prstGeom prst="roundRect">
            <a:avLst>
              <a:gd name="adj" fmla="val 11111"/>
            </a:avLst>
          </a:prstGeom>
          <a:solidFill>
            <a:srgbClr val="EFF6FF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84048" y="1284732"/>
            <a:ext cx="1828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src/agent.py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212848" y="1357884"/>
            <a:ext cx="18288" cy="274320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2304288" y="1284732"/>
            <a:ext cx="6400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LangGraph workflow: AgentState TypedDict, 5 node functions, StateGraph, InMemorySaver compile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274320" y="1783080"/>
            <a:ext cx="8595360" cy="493776"/>
          </a:xfrm>
          <a:prstGeom prst="roundRect">
            <a:avLst>
              <a:gd name="adj" fmla="val 11111"/>
            </a:avLst>
          </a:prstGeom>
          <a:solidFill>
            <a:srgbClr val="CFFAFE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84048" y="1819656"/>
            <a:ext cx="1828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src/retrieval.py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212848" y="1892808"/>
            <a:ext cx="18288" cy="274320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2304288" y="1819656"/>
            <a:ext cx="6400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DocumentRetriever class: keyword search, exact-ID lookup, load_document() for PDF/CSV/TXT/MD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274320" y="2318004"/>
            <a:ext cx="8595360" cy="493776"/>
          </a:xfrm>
          <a:prstGeom prst="roundRect">
            <a:avLst>
              <a:gd name="adj" fmla="val 11111"/>
            </a:avLst>
          </a:prstGeom>
          <a:solidFill>
            <a:srgbClr val="FFFBEB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84048" y="2354580"/>
            <a:ext cx="1828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src/tools.py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2212848" y="2427732"/>
            <a:ext cx="18288" cy="27432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2304288" y="2354580"/>
            <a:ext cx="6400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calculator tool (safe eval, regex-guarded) + document_reader tool (ID lookup + keyword fallback)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274320" y="2852928"/>
            <a:ext cx="8595360" cy="493776"/>
          </a:xfrm>
          <a:prstGeom prst="roundRect">
            <a:avLst>
              <a:gd name="adj" fmla="val 11111"/>
            </a:avLst>
          </a:prstGeom>
          <a:solidFill>
            <a:srgbClr val="FFF1F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384048" y="2889504"/>
            <a:ext cx="1828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src/prompts.py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2212848" y="2962656"/>
            <a:ext cx="18288" cy="27432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2304288" y="2889504"/>
            <a:ext cx="6400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QA, Summarization, Calculation system prompts + get_chat_prompt_template() + intent classifier prompt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274320" y="3387852"/>
            <a:ext cx="8595360" cy="493776"/>
          </a:xfrm>
          <a:prstGeom prst="roundRect">
            <a:avLst>
              <a:gd name="adj" fmla="val 11111"/>
            </a:avLst>
          </a:prstGeom>
          <a:solidFill>
            <a:srgbClr val="D1FAE5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384048" y="3424428"/>
            <a:ext cx="1828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src/assistant.py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2212848" y="3497580"/>
            <a:ext cx="18288" cy="27432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2304288" y="3424428"/>
            <a:ext cx="6400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DocumentAssistant class: start_session(), process_message(), wires LLM + tools into RunnableConfig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274320" y="3922776"/>
            <a:ext cx="8595360" cy="493776"/>
          </a:xfrm>
          <a:prstGeom prst="roundRect">
            <a:avLst>
              <a:gd name="adj" fmla="val 11111"/>
            </a:avLst>
          </a:prstGeom>
          <a:solidFill>
            <a:srgbClr val="E8F5E9"/>
          </a:solidFill>
          <a:ln w="12700">
            <a:solidFill>
              <a:srgbClr val="064E3B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384048" y="3959352"/>
            <a:ext cx="1828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64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streamlit_app.py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2212848" y="4032504"/>
            <a:ext cx="18288" cy="274320"/>
          </a:xfrm>
          <a:prstGeom prst="rect">
            <a:avLst/>
          </a:prstGeom>
          <a:solidFill>
            <a:srgbClr val="064E3B"/>
          </a:solidFill>
          <a:ln w="12700">
            <a:solidFill>
              <a:srgbClr val="064E3B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2304288" y="3959352"/>
            <a:ext cx="6400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3-tab Streamlit UI: Upload, Summarization, Calculator. Hospital doodle, light-green theme, per-tab sessions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274320" y="4457700"/>
            <a:ext cx="8595360" cy="493776"/>
          </a:xfrm>
          <a:prstGeom prst="roundRect">
            <a:avLst>
              <a:gd name="adj" fmla="val 11111"/>
            </a:avLst>
          </a:prstGeom>
          <a:solidFill>
            <a:srgbClr val="F9FAFB"/>
          </a:solidFill>
          <a:ln w="12700">
            <a:solidFill>
              <a:srgbClr val="374151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384048" y="4494276"/>
            <a:ext cx="1828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samples/*.csv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2212848" y="4567428"/>
            <a:ext cx="18288" cy="274320"/>
          </a:xfrm>
          <a:prstGeom prst="rect">
            <a:avLst/>
          </a:prstGeom>
          <a:solidFill>
            <a:srgbClr val="374151"/>
          </a:solidFill>
          <a:ln w="12700">
            <a:solidFill>
              <a:srgbClr val="374151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2304288" y="4494276"/>
            <a:ext cx="6400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sample datasets: finance (500 rows), hospital (500 rows), Q3 summary, dept stats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9FAF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64E3B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74320" y="45720"/>
            <a:ext cx="8229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📐  src/schemas.py — Pydantic v2 Output Models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8503920" y="45720"/>
            <a:ext cx="594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7F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6/20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D1FAE5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274320" y="658368"/>
            <a:ext cx="8595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structured outputs use Pydantic BaseModel. LangGraph agents call llm.with_structured_output(Model) to produce these.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74320" y="1024128"/>
            <a:ext cx="4251960" cy="1828800"/>
          </a:xfrm>
          <a:prstGeom prst="roundRect">
            <a:avLst>
              <a:gd name="adj" fmla="val 4000"/>
            </a:avLst>
          </a:prstGeom>
          <a:solidFill>
            <a:srgbClr val="EFF6FF"/>
          </a:solidFill>
          <a:ln w="19050">
            <a:solidFill>
              <a:srgbClr val="1D4ED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11480" y="1097280"/>
            <a:ext cx="3977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UserIntent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411480" y="1335024"/>
            <a:ext cx="3977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Produced by classify_intent node. Drives routing.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411480" y="1527048"/>
            <a:ext cx="3977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intent_type: str  — "qa" | "summarization" | "calculation" | "unknown"</a:t>
            </a:r>
            <a:endParaRPr lang="en-US" sz="950" dirty="0"/>
          </a:p>
        </p:txBody>
      </p:sp>
      <p:sp>
        <p:nvSpPr>
          <p:cNvPr id="12" name="Text 10"/>
          <p:cNvSpPr txBox="1"/>
          <p:nvPr/>
        </p:nvSpPr>
        <p:spPr>
          <a:xfrm>
            <a:off x="411480" y="1764792"/>
            <a:ext cx="3977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confidence: float  — 0.0 to 1.0</a:t>
            </a:r>
            <a:endParaRPr lang="en-US" sz="950" dirty="0"/>
          </a:p>
        </p:txBody>
      </p:sp>
      <p:sp>
        <p:nvSpPr>
          <p:cNvPr id="13" name="Text 11"/>
          <p:cNvSpPr txBox="1"/>
          <p:nvPr/>
        </p:nvSpPr>
        <p:spPr>
          <a:xfrm>
            <a:off x="411480" y="2002536"/>
            <a:ext cx="3977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reasoning: str  — why this intent was chosen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4709160" y="1024128"/>
            <a:ext cx="4251960" cy="1828800"/>
          </a:xfrm>
          <a:prstGeom prst="roundRect">
            <a:avLst>
              <a:gd name="adj" fmla="val 4000"/>
            </a:avLst>
          </a:prstGeom>
          <a:solidFill>
            <a:srgbClr val="F5F3FF"/>
          </a:solidFill>
          <a:ln w="19050">
            <a:solidFill>
              <a:srgbClr val="7C3AED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846320" y="1097280"/>
            <a:ext cx="3977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AnswerResponse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4846320" y="1335024"/>
            <a:ext cx="3977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Produced by qa_agent node.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4846320" y="1527048"/>
            <a:ext cx="3977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question: str</a:t>
            </a:r>
            <a:endParaRPr lang="en-US" sz="950" dirty="0"/>
          </a:p>
        </p:txBody>
      </p:sp>
      <p:sp>
        <p:nvSpPr>
          <p:cNvPr id="18" name="Text 16"/>
          <p:cNvSpPr txBox="1"/>
          <p:nvPr/>
        </p:nvSpPr>
        <p:spPr>
          <a:xfrm>
            <a:off x="4846320" y="1764792"/>
            <a:ext cx="3977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answer: str</a:t>
            </a:r>
            <a:endParaRPr lang="en-US" sz="950" dirty="0"/>
          </a:p>
        </p:txBody>
      </p:sp>
      <p:sp>
        <p:nvSpPr>
          <p:cNvPr id="19" name="Text 17"/>
          <p:cNvSpPr txBox="1"/>
          <p:nvPr/>
        </p:nvSpPr>
        <p:spPr>
          <a:xfrm>
            <a:off x="4846320" y="2002536"/>
            <a:ext cx="3977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sources: List[str]  — doc IDs used</a:t>
            </a:r>
            <a:endParaRPr lang="en-US" sz="950" dirty="0"/>
          </a:p>
        </p:txBody>
      </p:sp>
      <p:sp>
        <p:nvSpPr>
          <p:cNvPr id="20" name="Text 18"/>
          <p:cNvSpPr txBox="1"/>
          <p:nvPr/>
        </p:nvSpPr>
        <p:spPr>
          <a:xfrm>
            <a:off x="4846320" y="2240280"/>
            <a:ext cx="3977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confidence: float</a:t>
            </a:r>
            <a:endParaRPr lang="en-US" sz="950" dirty="0"/>
          </a:p>
        </p:txBody>
      </p:sp>
      <p:sp>
        <p:nvSpPr>
          <p:cNvPr id="21" name="Text 19"/>
          <p:cNvSpPr txBox="1"/>
          <p:nvPr/>
        </p:nvSpPr>
        <p:spPr>
          <a:xfrm>
            <a:off x="4846320" y="2478024"/>
            <a:ext cx="3977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timestamp: datetime  (auto)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274320" y="2962656"/>
            <a:ext cx="4251960" cy="1828800"/>
          </a:xfrm>
          <a:prstGeom prst="roundRect">
            <a:avLst>
              <a:gd name="adj" fmla="val 4000"/>
            </a:avLst>
          </a:prstGeom>
          <a:solidFill>
            <a:srgbClr val="FFFBEB"/>
          </a:solidFill>
          <a:ln w="19050">
            <a:solidFill>
              <a:srgbClr val="D97706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11480" y="3035808"/>
            <a:ext cx="3977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SummarizationResponse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411480" y="3273552"/>
            <a:ext cx="3977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Produced by summarization_agent node.</a:t>
            </a:r>
            <a:endParaRPr lang="en-US" sz="900" dirty="0"/>
          </a:p>
        </p:txBody>
      </p:sp>
      <p:sp>
        <p:nvSpPr>
          <p:cNvPr id="25" name="Text 23"/>
          <p:cNvSpPr txBox="1"/>
          <p:nvPr/>
        </p:nvSpPr>
        <p:spPr>
          <a:xfrm>
            <a:off x="411480" y="3465576"/>
            <a:ext cx="3977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summary: str  — paragraph summary</a:t>
            </a:r>
            <a:endParaRPr lang="en-US" sz="950" dirty="0"/>
          </a:p>
        </p:txBody>
      </p:sp>
      <p:sp>
        <p:nvSpPr>
          <p:cNvPr id="26" name="Text 24"/>
          <p:cNvSpPr txBox="1"/>
          <p:nvPr/>
        </p:nvSpPr>
        <p:spPr>
          <a:xfrm>
            <a:off x="411480" y="3703320"/>
            <a:ext cx="3977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key_points: List[str]  — 3–7 bullet points</a:t>
            </a:r>
            <a:endParaRPr lang="en-US" sz="950" dirty="0"/>
          </a:p>
        </p:txBody>
      </p:sp>
      <p:sp>
        <p:nvSpPr>
          <p:cNvPr id="27" name="Text 25"/>
          <p:cNvSpPr txBox="1"/>
          <p:nvPr/>
        </p:nvSpPr>
        <p:spPr>
          <a:xfrm>
            <a:off x="411480" y="3941064"/>
            <a:ext cx="3977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sources: List[str]</a:t>
            </a:r>
            <a:endParaRPr lang="en-US" sz="950" dirty="0"/>
          </a:p>
        </p:txBody>
      </p:sp>
      <p:sp>
        <p:nvSpPr>
          <p:cNvPr id="28" name="Text 26"/>
          <p:cNvSpPr txBox="1"/>
          <p:nvPr/>
        </p:nvSpPr>
        <p:spPr>
          <a:xfrm>
            <a:off x="411480" y="4178808"/>
            <a:ext cx="3977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timestamp: datetime  (auto)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4709160" y="2962656"/>
            <a:ext cx="4251960" cy="1828800"/>
          </a:xfrm>
          <a:prstGeom prst="roundRect">
            <a:avLst>
              <a:gd name="adj" fmla="val 4000"/>
            </a:avLst>
          </a:prstGeom>
          <a:solidFill>
            <a:srgbClr val="FFF1F2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4846320" y="3035808"/>
            <a:ext cx="3977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CalculationResponse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4846320" y="3273552"/>
            <a:ext cx="3977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Produced by calculation_agent node.</a:t>
            </a:r>
            <a:endParaRPr lang="en-US" sz="900" dirty="0"/>
          </a:p>
        </p:txBody>
      </p:sp>
      <p:sp>
        <p:nvSpPr>
          <p:cNvPr id="32" name="Text 30"/>
          <p:cNvSpPr txBox="1"/>
          <p:nvPr/>
        </p:nvSpPr>
        <p:spPr>
          <a:xfrm>
            <a:off x="4846320" y="3465576"/>
            <a:ext cx="3977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question: str</a:t>
            </a:r>
            <a:endParaRPr lang="en-US" sz="950" dirty="0"/>
          </a:p>
        </p:txBody>
      </p:sp>
      <p:sp>
        <p:nvSpPr>
          <p:cNvPr id="33" name="Text 31"/>
          <p:cNvSpPr txBox="1"/>
          <p:nvPr/>
        </p:nvSpPr>
        <p:spPr>
          <a:xfrm>
            <a:off x="4846320" y="3703320"/>
            <a:ext cx="3977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result: str  — numeric result with units</a:t>
            </a:r>
            <a:endParaRPr lang="en-US" sz="950" dirty="0"/>
          </a:p>
        </p:txBody>
      </p:sp>
      <p:sp>
        <p:nvSpPr>
          <p:cNvPr id="34" name="Text 32"/>
          <p:cNvSpPr txBox="1"/>
          <p:nvPr/>
        </p:nvSpPr>
        <p:spPr>
          <a:xfrm>
            <a:off x="4846320" y="3941064"/>
            <a:ext cx="3977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expression: str  — math formula used</a:t>
            </a:r>
            <a:endParaRPr lang="en-US" sz="950" dirty="0"/>
          </a:p>
        </p:txBody>
      </p:sp>
      <p:sp>
        <p:nvSpPr>
          <p:cNvPr id="35" name="Text 33"/>
          <p:cNvSpPr txBox="1"/>
          <p:nvPr/>
        </p:nvSpPr>
        <p:spPr>
          <a:xfrm>
            <a:off x="4846320" y="4178808"/>
            <a:ext cx="3977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sources: List[str]</a:t>
            </a:r>
            <a:endParaRPr lang="en-US" sz="950" dirty="0"/>
          </a:p>
        </p:txBody>
      </p:sp>
      <p:sp>
        <p:nvSpPr>
          <p:cNvPr id="36" name="Text 34"/>
          <p:cNvSpPr txBox="1"/>
          <p:nvPr/>
        </p:nvSpPr>
        <p:spPr>
          <a:xfrm>
            <a:off x="4846320" y="4416552"/>
            <a:ext cx="3977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timestamp: datetime  (auto)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9FAF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64E3B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74320" y="45720"/>
            <a:ext cx="8229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⚙️  src/agent.py — Core LangGraph Workflow (Most Important File)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8503920" y="45720"/>
            <a:ext cx="594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7F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7/20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D1FAE5"/>
          </a:solidFill>
          <a:ln/>
        </p:spPr>
      </p:sp>
      <p:sp>
        <p:nvSpPr>
          <p:cNvPr id="7" name="Shape 5"/>
          <p:cNvSpPr/>
          <p:nvPr/>
        </p:nvSpPr>
        <p:spPr>
          <a:xfrm>
            <a:off x="274320" y="704088"/>
            <a:ext cx="36576" cy="658368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02336" y="731520"/>
            <a:ext cx="8321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AgentState (TypedDict)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402336" y="950976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11-field shared state with add_messages and operator.add reducers.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274320" y="1540764"/>
            <a:ext cx="36576" cy="658368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02336" y="1568196"/>
            <a:ext cx="8321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Node Functions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402336" y="1787652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classify_intent, qa_agent, summarization_agent, calculation_agent, update_memory. Each typed with RunnableConfig for config injection.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274320" y="2377440"/>
            <a:ext cx="36576" cy="65836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02336" y="2404872"/>
            <a:ext cx="8321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_run_tool_loop()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402336" y="2624328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Helper: bind_tools → invoke → append ToolMessages → repeat up to max_iter. Returns messages, tools_used, context_snippets.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274320" y="3214116"/>
            <a:ext cx="36576" cy="658368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02336" y="3241548"/>
            <a:ext cx="8321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_route_to_agent()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402336" y="3461004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Conditional edge function: reads state["next_step"] and returns the target node name.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274320" y="4050792"/>
            <a:ext cx="36576" cy="65836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02336" y="4078224"/>
            <a:ext cx="8321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create_workflow()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402336" y="4297680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Builds StateGraph, adds all nodes, sets entry point, wires conditional + fixed edges, compiles with InMemorySaver().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274320" y="4809744"/>
            <a:ext cx="8595360" cy="201168"/>
          </a:xfrm>
          <a:prstGeom prst="roundRect">
            <a:avLst>
              <a:gd name="adj" fmla="val 18182"/>
            </a:avLst>
          </a:prstGeom>
          <a:solidFill>
            <a:srgbClr val="FFFBEB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320040" y="4818888"/>
            <a:ext cx="8503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Critical: All node functions must type config as RunnableConfig (not dict) — LangGraph only injects the config when the type annotation is correct.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9FAF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64E3B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74320" y="45720"/>
            <a:ext cx="8229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📚  src/retrieval.py — Document Store &amp; Retrieval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8503920" y="45720"/>
            <a:ext cx="594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7F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8/20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D1FAE5"/>
          </a:solidFill>
          <a:ln/>
        </p:spPr>
      </p:sp>
      <p:sp>
        <p:nvSpPr>
          <p:cNvPr id="7" name="Shape 5"/>
          <p:cNvSpPr/>
          <p:nvPr/>
        </p:nvSpPr>
        <p:spPr>
          <a:xfrm>
            <a:off x="274320" y="685800"/>
            <a:ext cx="4114800" cy="4206240"/>
          </a:xfrm>
          <a:prstGeom prst="roundRect">
            <a:avLst>
              <a:gd name="adj" fmla="val 1778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74320" y="73152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DocumentRetriever Methods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402336" y="1152144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get_document(doc_id)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402336" y="1371600"/>
            <a:ext cx="3840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 ID lookup. Returns dict with content, title, type or None.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02336" y="2011680"/>
            <a:ext cx="3749040" cy="9144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02336" y="2066544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search_documents(query, top_k=2)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402336" y="2286000"/>
            <a:ext cx="3840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Keyword scoring: counts query-term occurrences in content+title. Falls back to first 2 docs if no match.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02336" y="2926080"/>
            <a:ext cx="3749040" cy="9144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02336" y="2980944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load_document(file_path)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402336" y="3200400"/>
            <a:ext cx="3840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Loads .pdf, .txt, .md, .csv. Builds doc ID from filename stem. Uses pypdf for PDF extraction page-by-page.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02336" y="3840480"/>
            <a:ext cx="3749040" cy="9144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02336" y="3895344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list_documents()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402336" y="4114800"/>
            <a:ext cx="3840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Returns all doc IDs + titles for UI display.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663440" y="685800"/>
            <a:ext cx="4160520" cy="4206240"/>
          </a:xfrm>
          <a:prstGeom prst="roundRect">
            <a:avLst>
              <a:gd name="adj" fmla="val 1758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663440" y="731520"/>
            <a:ext cx="4160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Built-in Documents (4)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800600" y="1143000"/>
            <a:ext cx="3886200" cy="621792"/>
          </a:xfrm>
          <a:prstGeom prst="roundRect">
            <a:avLst>
              <a:gd name="adj" fmla="val 8824"/>
            </a:avLst>
          </a:prstGeom>
          <a:solidFill>
            <a:srgbClr val="CFFAFE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919472" y="1188720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doc_financial_q1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4919472" y="1408176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 2026 Financial Report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4800600" y="1892808"/>
            <a:ext cx="3886200" cy="621792"/>
          </a:xfrm>
          <a:prstGeom prst="roundRect">
            <a:avLst>
              <a:gd name="adj" fmla="val 8824"/>
            </a:avLst>
          </a:prstGeom>
          <a:solidFill>
            <a:srgbClr val="CFFAFE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4919472" y="1938528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doc_financial_q2</a:t>
            </a:r>
            <a:endParaRPr lang="en-US" sz="1000" dirty="0"/>
          </a:p>
        </p:txBody>
      </p:sp>
      <p:sp>
        <p:nvSpPr>
          <p:cNvPr id="27" name="Text 25"/>
          <p:cNvSpPr txBox="1"/>
          <p:nvPr/>
        </p:nvSpPr>
        <p:spPr>
          <a:xfrm>
            <a:off x="4919472" y="2157984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Q2 2026 Financial Report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4800600" y="2642616"/>
            <a:ext cx="3886200" cy="621792"/>
          </a:xfrm>
          <a:prstGeom prst="roundRect">
            <a:avLst>
              <a:gd name="adj" fmla="val 8824"/>
            </a:avLst>
          </a:prstGeom>
          <a:solidFill>
            <a:srgbClr val="CFFAFE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4919472" y="2688336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doc_healthcare_stats</a:t>
            </a:r>
            <a:endParaRPr lang="en-US" sz="1000" dirty="0"/>
          </a:p>
        </p:txBody>
      </p:sp>
      <p:sp>
        <p:nvSpPr>
          <p:cNvPr id="30" name="Text 28"/>
          <p:cNvSpPr txBox="1"/>
          <p:nvPr/>
        </p:nvSpPr>
        <p:spPr>
          <a:xfrm>
            <a:off x="4919472" y="2907792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Healthcare Statistics 2026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4800600" y="3392424"/>
            <a:ext cx="3886200" cy="621792"/>
          </a:xfrm>
          <a:prstGeom prst="roundRect">
            <a:avLst>
              <a:gd name="adj" fmla="val 8824"/>
            </a:avLst>
          </a:prstGeom>
          <a:solidFill>
            <a:srgbClr val="CFFAFE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4919472" y="3438144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doc_healthcare_outcomes</a:t>
            </a:r>
            <a:endParaRPr lang="en-US" sz="1000" dirty="0"/>
          </a:p>
        </p:txBody>
      </p:sp>
      <p:sp>
        <p:nvSpPr>
          <p:cNvPr id="33" name="Text 31"/>
          <p:cNvSpPr txBox="1"/>
          <p:nvPr/>
        </p:nvSpPr>
        <p:spPr>
          <a:xfrm>
            <a:off x="4919472" y="3657600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 Outcomes Report 2026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4754880" y="4160520"/>
            <a:ext cx="3931920" cy="621792"/>
          </a:xfrm>
          <a:prstGeom prst="roundRect">
            <a:avLst>
              <a:gd name="adj" fmla="val 8824"/>
            </a:avLst>
          </a:prstGeom>
          <a:solidFill>
            <a:srgbClr val="FFFBEB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4846320" y="4169664"/>
            <a:ext cx="3749040" cy="60350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Retrieval Type: Keyword Matching (NOT RAG)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vector embeddings — term-count scoring on full document text.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9FAF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64E3B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74320" y="45720"/>
            <a:ext cx="8229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🔨  src/tools.py — Two LangChain Tools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8503920" y="45720"/>
            <a:ext cx="594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7F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9/20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D1FAE5"/>
          </a:solidFill>
          <a:ln/>
        </p:spPr>
      </p:sp>
      <p:sp>
        <p:nvSpPr>
          <p:cNvPr id="7" name="Shape 5"/>
          <p:cNvSpPr/>
          <p:nvPr/>
        </p:nvSpPr>
        <p:spPr>
          <a:xfrm>
            <a:off x="274320" y="685800"/>
            <a:ext cx="4160520" cy="4224528"/>
          </a:xfrm>
          <a:prstGeom prst="roundRect">
            <a:avLst>
              <a:gd name="adj" fmla="val 1758"/>
            </a:avLst>
          </a:prstGeom>
          <a:solidFill>
            <a:srgbClr val="FFFBEB"/>
          </a:solidFill>
          <a:ln w="19050">
            <a:solidFill>
              <a:srgbClr val="D9770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74320" y="749808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🧮  calculator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411480" y="1243584"/>
            <a:ext cx="1188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Input: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1600200" y="1243584"/>
            <a:ext cx="2697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math expression string, e.g. "4200000 - 2800000"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411480" y="1728216"/>
            <a:ext cx="1188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Safety: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1600200" y="1728216"/>
            <a:ext cx="2697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Regex guard — only digits and + - * / ( ) . % allowed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411480" y="2212848"/>
            <a:ext cx="1188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Execution: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1600200" y="2212848"/>
            <a:ext cx="2697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eval() with empty __builtins__ (sandboxed)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411480" y="2697480"/>
            <a:ext cx="1188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Output: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1600200" y="2697480"/>
            <a:ext cx="2697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Formatted result string, e.g. "Result: 1,400,000"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411480" y="3182112"/>
            <a:ext cx="1188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 handling: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1600200" y="3182112"/>
            <a:ext cx="2697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ZeroDivisionError, unsupported chars, eval exceptions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411480" y="3666744"/>
            <a:ext cx="1188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Used by: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1600200" y="3666744"/>
            <a:ext cx="2697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calculation_agent only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411480" y="4133088"/>
            <a:ext cx="3886200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57200" y="4151376"/>
            <a:ext cx="3749040" cy="62179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118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clean_expr = expression.replace(",","").strip()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1118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re.match(r'^[\d\s\+\-\*\/\.\(\)\%]+$', clean_expr):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1118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result = eval(clean_expr, {"__builtins__": {}}, {})</a:t>
            </a:r>
            <a:endParaRPr lang="en-US" sz="750" dirty="0"/>
          </a:p>
        </p:txBody>
      </p:sp>
      <p:sp>
        <p:nvSpPr>
          <p:cNvPr id="23" name="Shape 21"/>
          <p:cNvSpPr/>
          <p:nvPr/>
        </p:nvSpPr>
        <p:spPr>
          <a:xfrm>
            <a:off x="4709160" y="685800"/>
            <a:ext cx="4160520" cy="4224528"/>
          </a:xfrm>
          <a:prstGeom prst="roundRect">
            <a:avLst>
              <a:gd name="adj" fmla="val 1758"/>
            </a:avLst>
          </a:prstGeom>
          <a:solidFill>
            <a:srgbClr val="EFF6FF"/>
          </a:solidFill>
          <a:ln w="19050">
            <a:solidFill>
              <a:srgbClr val="1D4ED8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4709160" y="749808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📄  document_reader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4828032" y="1243584"/>
            <a:ext cx="1143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Input: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5971032" y="1243584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document ID or keyword search string</a:t>
            </a:r>
            <a:endParaRPr lang="en-US" sz="1050" dirty="0"/>
          </a:p>
        </p:txBody>
      </p:sp>
      <p:sp>
        <p:nvSpPr>
          <p:cNvPr id="27" name="Text 25"/>
          <p:cNvSpPr txBox="1"/>
          <p:nvPr/>
        </p:nvSpPr>
        <p:spPr>
          <a:xfrm>
            <a:off x="4828032" y="1728216"/>
            <a:ext cx="1143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1:</a:t>
            </a:r>
            <a:endParaRPr 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5971032" y="1728216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 ID lookup via retriever.get_document(query)</a:t>
            </a:r>
            <a:endParaRPr lang="en-US" sz="1050" dirty="0"/>
          </a:p>
        </p:txBody>
      </p:sp>
      <p:sp>
        <p:nvSpPr>
          <p:cNvPr id="29" name="Text 27"/>
          <p:cNvSpPr txBox="1"/>
          <p:nvPr/>
        </p:nvSpPr>
        <p:spPr>
          <a:xfrm>
            <a:off x="4828032" y="2212848"/>
            <a:ext cx="1143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2:</a:t>
            </a:r>
            <a:endParaRPr lang="en-US" sz="1050" dirty="0"/>
          </a:p>
        </p:txBody>
      </p:sp>
      <p:sp>
        <p:nvSpPr>
          <p:cNvPr id="30" name="Text 28"/>
          <p:cNvSpPr txBox="1"/>
          <p:nvPr/>
        </p:nvSpPr>
        <p:spPr>
          <a:xfrm>
            <a:off x="5971032" y="2212848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no match → keyword search retriever.search_documents(query)</a:t>
            </a:r>
            <a:endParaRPr lang="en-US" sz="1050" dirty="0"/>
          </a:p>
        </p:txBody>
      </p:sp>
      <p:sp>
        <p:nvSpPr>
          <p:cNvPr id="31" name="Text 29"/>
          <p:cNvSpPr txBox="1"/>
          <p:nvPr/>
        </p:nvSpPr>
        <p:spPr>
          <a:xfrm>
            <a:off x="4828032" y="2697480"/>
            <a:ext cx="1143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Fallback:</a:t>
            </a:r>
            <a:endParaRPr lang="en-US" sz="1050" dirty="0"/>
          </a:p>
        </p:txBody>
      </p:sp>
      <p:sp>
        <p:nvSpPr>
          <p:cNvPr id="32" name="Text 30"/>
          <p:cNvSpPr txBox="1"/>
          <p:nvPr/>
        </p:nvSpPr>
        <p:spPr>
          <a:xfrm>
            <a:off x="5971032" y="269748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Returns first 2 docs if keywords match nothing</a:t>
            </a:r>
            <a:endParaRPr lang="en-US" sz="1050" dirty="0"/>
          </a:p>
        </p:txBody>
      </p:sp>
      <p:sp>
        <p:nvSpPr>
          <p:cNvPr id="33" name="Text 31"/>
          <p:cNvSpPr txBox="1"/>
          <p:nvPr/>
        </p:nvSpPr>
        <p:spPr>
          <a:xfrm>
            <a:off x="4828032" y="3182112"/>
            <a:ext cx="1143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Output:</a:t>
            </a:r>
            <a:endParaRPr lang="en-US" sz="1050" dirty="0"/>
          </a:p>
        </p:txBody>
      </p:sp>
      <p:sp>
        <p:nvSpPr>
          <p:cNvPr id="34" name="Text 32"/>
          <p:cNvSpPr txBox="1"/>
          <p:nvPr/>
        </p:nvSpPr>
        <p:spPr>
          <a:xfrm>
            <a:off x="5971032" y="3182112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Formatted string with doc ID, title, and full content</a:t>
            </a:r>
            <a:endParaRPr lang="en-US" sz="1050" dirty="0"/>
          </a:p>
        </p:txBody>
      </p:sp>
      <p:sp>
        <p:nvSpPr>
          <p:cNvPr id="35" name="Text 33"/>
          <p:cNvSpPr txBox="1"/>
          <p:nvPr/>
        </p:nvSpPr>
        <p:spPr>
          <a:xfrm>
            <a:off x="4828032" y="3666744"/>
            <a:ext cx="1143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Used by:</a:t>
            </a:r>
            <a:endParaRPr lang="en-US" sz="1050" dirty="0"/>
          </a:p>
        </p:txBody>
      </p:sp>
      <p:sp>
        <p:nvSpPr>
          <p:cNvPr id="36" name="Text 34"/>
          <p:cNvSpPr txBox="1"/>
          <p:nvPr/>
        </p:nvSpPr>
        <p:spPr>
          <a:xfrm>
            <a:off x="5971032" y="3666744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3 agents — qa, summarization, calculation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4828032" y="4133088"/>
            <a:ext cx="3886200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4873752" y="4151376"/>
            <a:ext cx="3749040" cy="62179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118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 = retriever.get_document(query)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1118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not doc: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1118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results = retriever.search_documents(query)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9FAF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64E3B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74320" y="45720"/>
            <a:ext cx="8229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💬  src/prompts.py  &amp;  src/assistant.py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8503920" y="45720"/>
            <a:ext cx="594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7F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10/20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D1FAE5"/>
          </a:solidFill>
          <a:ln/>
        </p:spPr>
      </p:sp>
      <p:sp>
        <p:nvSpPr>
          <p:cNvPr id="7" name="Shape 5"/>
          <p:cNvSpPr/>
          <p:nvPr/>
        </p:nvSpPr>
        <p:spPr>
          <a:xfrm>
            <a:off x="274320" y="685800"/>
            <a:ext cx="4160520" cy="4224528"/>
          </a:xfrm>
          <a:prstGeom prst="roundRect">
            <a:avLst>
              <a:gd name="adj" fmla="val 1758"/>
            </a:avLst>
          </a:prstGeom>
          <a:solidFill>
            <a:srgbClr val="F5F3FF"/>
          </a:solidFill>
          <a:ln w="19050">
            <a:solidFill>
              <a:srgbClr val="7C3AED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74320" y="749808"/>
            <a:ext cx="4160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prompts.py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402336" y="1188720"/>
            <a:ext cx="39136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QA_SYSTEM_PROMPT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02336" y="1408176"/>
            <a:ext cx="3913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Instructs agent to use document_reader tool, cite doc IDs, give confidence score.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402336" y="1847088"/>
            <a:ext cx="39136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SUMMARIZATION_SYSTEM_PROMPT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402336" y="2066544"/>
            <a:ext cx="3913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Instructs agent to use document_reader, produce concise summary + 3–7 key points.</a:t>
            </a:r>
            <a:endParaRPr lang="en-US" sz="950" dirty="0"/>
          </a:p>
        </p:txBody>
      </p:sp>
      <p:sp>
        <p:nvSpPr>
          <p:cNvPr id="13" name="Text 11"/>
          <p:cNvSpPr txBox="1"/>
          <p:nvPr/>
        </p:nvSpPr>
        <p:spPr>
          <a:xfrm>
            <a:off x="402336" y="2505456"/>
            <a:ext cx="39136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CALCULATION_SYSTEM_PROMPT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402336" y="2724912"/>
            <a:ext cx="3913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Enforces: "ALWAYS use calculator tool for ALL calculations — even simple ones."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402336" y="3163824"/>
            <a:ext cx="39136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get_intent_classification_prompt()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402336" y="3383280"/>
            <a:ext cx="3913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Returns a PromptTemplate for the classify_intent LLM call (uses .format(), not .format_messages()).</a:t>
            </a:r>
            <a:endParaRPr lang="en-US" sz="950" dirty="0"/>
          </a:p>
        </p:txBody>
      </p:sp>
      <p:sp>
        <p:nvSpPr>
          <p:cNvPr id="17" name="Text 15"/>
          <p:cNvSpPr txBox="1"/>
          <p:nvPr/>
        </p:nvSpPr>
        <p:spPr>
          <a:xfrm>
            <a:off x="402336" y="3822192"/>
            <a:ext cx="39136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get_chat_prompt_template(intent)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402336" y="4041648"/>
            <a:ext cx="3913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Returns a ChatPromptTemplate with the correct system prompt for the given intent type.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4709160" y="685800"/>
            <a:ext cx="4160520" cy="4224528"/>
          </a:xfrm>
          <a:prstGeom prst="roundRect">
            <a:avLst>
              <a:gd name="adj" fmla="val 1758"/>
            </a:avLst>
          </a:prstGeom>
          <a:solidFill>
            <a:srgbClr val="D1FAE5"/>
          </a:solidFill>
          <a:ln w="19050">
            <a:solidFill>
              <a:srgbClr val="10B981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709160" y="749808"/>
            <a:ext cx="4160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64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assistant.py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4828032" y="1188720"/>
            <a:ext cx="39136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64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DocumentAssistant class</a:t>
            </a:r>
            <a:endParaRPr lang="en-US" sz="1000" dirty="0"/>
          </a:p>
        </p:txBody>
      </p:sp>
      <p:sp>
        <p:nvSpPr>
          <p:cNvPr id="22" name="Text 20"/>
          <p:cNvSpPr txBox="1"/>
          <p:nvPr/>
        </p:nvSpPr>
        <p:spPr>
          <a:xfrm>
            <a:off x="4828032" y="1408176"/>
            <a:ext cx="3913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Owns the LLM instance (ChatOpenAI gpt-4o), the tools list, and the compiled workflow graph.</a:t>
            </a:r>
            <a:endParaRPr lang="en-US" sz="950" dirty="0"/>
          </a:p>
        </p:txBody>
      </p:sp>
      <p:sp>
        <p:nvSpPr>
          <p:cNvPr id="23" name="Text 21"/>
          <p:cNvSpPr txBox="1"/>
          <p:nvPr/>
        </p:nvSpPr>
        <p:spPr>
          <a:xfrm>
            <a:off x="4828032" y="1847088"/>
            <a:ext cx="39136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64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start_session(user_id)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4828032" y="2066544"/>
            <a:ext cx="3913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Creates a new ChatSession with a UUID session_id. Stores it in self.current_session.</a:t>
            </a:r>
            <a:endParaRPr lang="en-US" sz="950" dirty="0"/>
          </a:p>
        </p:txBody>
      </p:sp>
      <p:sp>
        <p:nvSpPr>
          <p:cNvPr id="25" name="Text 23"/>
          <p:cNvSpPr txBox="1"/>
          <p:nvPr/>
        </p:nvSpPr>
        <p:spPr>
          <a:xfrm>
            <a:off x="4828032" y="2505456"/>
            <a:ext cx="39136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64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process_message(text)</a:t>
            </a:r>
            <a:endParaRPr lang="en-US" sz="1000" dirty="0"/>
          </a:p>
        </p:txBody>
      </p:sp>
      <p:sp>
        <p:nvSpPr>
          <p:cNvPr id="26" name="Text 24"/>
          <p:cNvSpPr txBox="1"/>
          <p:nvPr/>
        </p:nvSpPr>
        <p:spPr>
          <a:xfrm>
            <a:off x="4828032" y="2724912"/>
            <a:ext cx="3913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Builds the initial AgentState dict, sets RunnableConfig with thread_id, llm, and tools. Calls workflow.invoke().</a:t>
            </a:r>
            <a:endParaRPr lang="en-US" sz="950" dirty="0"/>
          </a:p>
        </p:txBody>
      </p:sp>
      <p:sp>
        <p:nvSpPr>
          <p:cNvPr id="27" name="Text 25"/>
          <p:cNvSpPr txBox="1"/>
          <p:nvPr/>
        </p:nvSpPr>
        <p:spPr>
          <a:xfrm>
            <a:off x="4828032" y="3163824"/>
            <a:ext cx="39136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64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RunnableConfig payload</a:t>
            </a:r>
            <a:endParaRPr lang="en-US" sz="1000" dirty="0"/>
          </a:p>
        </p:txBody>
      </p:sp>
      <p:sp>
        <p:nvSpPr>
          <p:cNvPr id="28" name="Text 26"/>
          <p:cNvSpPr txBox="1"/>
          <p:nvPr/>
        </p:nvSpPr>
        <p:spPr>
          <a:xfrm>
            <a:off x="4828032" y="3383280"/>
            <a:ext cx="3913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"thread_id": session_id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"llm": ChatOpenAI instance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"tools": [calculator, document_reader]</a:t>
            </a:r>
            <a:endParaRPr lang="en-US" sz="950" dirty="0"/>
          </a:p>
        </p:txBody>
      </p:sp>
      <p:sp>
        <p:nvSpPr>
          <p:cNvPr id="29" name="Text 27"/>
          <p:cNvSpPr txBox="1"/>
          <p:nvPr/>
        </p:nvSpPr>
        <p:spPr>
          <a:xfrm>
            <a:off x="4828032" y="3822192"/>
            <a:ext cx="39136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64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Response extraction</a:t>
            </a:r>
            <a:endParaRPr lang="en-US" sz="1000" dirty="0"/>
          </a:p>
        </p:txBody>
      </p:sp>
      <p:sp>
        <p:nvSpPr>
          <p:cNvPr id="30" name="Text 28"/>
          <p:cNvSpPr txBox="1"/>
          <p:nvPr/>
        </p:nvSpPr>
        <p:spPr>
          <a:xfrm>
            <a:off x="4828032" y="4041648"/>
            <a:ext cx="3913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Reads state["current_response"] after invoke(). Falls back to last AIMessage.content if no structured response.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9FAF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64E3B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74320" y="45720"/>
            <a:ext cx="8229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🌐  streamlit_app.py — Streamlit Web UI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8503920" y="45720"/>
            <a:ext cx="594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7F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11/20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D1FAE5"/>
          </a:solidFill>
          <a:ln/>
        </p:spPr>
      </p:sp>
      <p:sp>
        <p:nvSpPr>
          <p:cNvPr id="7" name="Shape 5"/>
          <p:cNvSpPr/>
          <p:nvPr/>
        </p:nvSpPr>
        <p:spPr>
          <a:xfrm>
            <a:off x="274320" y="685800"/>
            <a:ext cx="2788920" cy="4224528"/>
          </a:xfrm>
          <a:prstGeom prst="roundRect">
            <a:avLst>
              <a:gd name="adj" fmla="val 2623"/>
            </a:avLst>
          </a:prstGeom>
          <a:solidFill>
            <a:srgbClr val="D1FAE5"/>
          </a:solidFill>
          <a:ln w="19050">
            <a:solidFill>
              <a:srgbClr val="10B98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74320" y="749808"/>
            <a:ext cx="2788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📁  Upload Documents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84048" y="1188720"/>
            <a:ext cx="2578608" cy="51206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file_uploader() for PDF, TXT, MD, CSV</a:t>
            </a:r>
            <a:endParaRPr lang="en-US" sz="950" dirty="0"/>
          </a:p>
        </p:txBody>
      </p:sp>
      <p:sp>
        <p:nvSpPr>
          <p:cNvPr id="10" name="Text 8"/>
          <p:cNvSpPr txBox="1"/>
          <p:nvPr/>
        </p:nvSpPr>
        <p:spPr>
          <a:xfrm>
            <a:off x="384048" y="1755648"/>
            <a:ext cx="2578608" cy="51206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Writes to tempfile → retriever.load_document()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384048" y="2322576"/>
            <a:ext cx="2578608" cy="51206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Shows success / duplicate / error feedback</a:t>
            </a:r>
            <a:endParaRPr lang="en-US" sz="950" dirty="0"/>
          </a:p>
        </p:txBody>
      </p:sp>
      <p:sp>
        <p:nvSpPr>
          <p:cNvPr id="12" name="Text 10"/>
          <p:cNvSpPr txBox="1"/>
          <p:nvPr/>
        </p:nvSpPr>
        <p:spPr>
          <a:xfrm>
            <a:off x="384048" y="2889504"/>
            <a:ext cx="2578608" cy="51206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Tip chip: "Summarize {doc_id}"</a:t>
            </a:r>
            <a:endParaRPr lang="en-US" sz="950" dirty="0"/>
          </a:p>
        </p:txBody>
      </p:sp>
      <p:sp>
        <p:nvSpPr>
          <p:cNvPr id="13" name="Text 11"/>
          <p:cNvSpPr txBox="1"/>
          <p:nvPr/>
        </p:nvSpPr>
        <p:spPr>
          <a:xfrm>
            <a:off x="384048" y="3456432"/>
            <a:ext cx="2578608" cy="51206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Displays all loaded documents with badges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3182112" y="685800"/>
            <a:ext cx="2788920" cy="4224528"/>
          </a:xfrm>
          <a:prstGeom prst="roundRect">
            <a:avLst>
              <a:gd name="adj" fmla="val 2623"/>
            </a:avLst>
          </a:prstGeom>
          <a:solidFill>
            <a:srgbClr val="F5F3FF"/>
          </a:solidFill>
          <a:ln w="19050">
            <a:solidFill>
              <a:srgbClr val="7C3AED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3182112" y="749808"/>
            <a:ext cx="2788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📄  Summarization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3291840" y="1188720"/>
            <a:ext cx="2578608" cy="51206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Separate sum_assistant (DocumentAssistant) per tab</a:t>
            </a:r>
            <a:endParaRPr lang="en-US" sz="950" dirty="0"/>
          </a:p>
        </p:txBody>
      </p:sp>
      <p:sp>
        <p:nvSpPr>
          <p:cNvPr id="17" name="Text 15"/>
          <p:cNvSpPr txBox="1"/>
          <p:nvPr/>
        </p:nvSpPr>
        <p:spPr>
          <a:xfrm>
            <a:off x="3291840" y="1755648"/>
            <a:ext cx="2578608" cy="51206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Chat history stored in st.session_state.sum_chat</a:t>
            </a:r>
            <a:endParaRPr lang="en-US" sz="950" dirty="0"/>
          </a:p>
        </p:txBody>
      </p:sp>
      <p:sp>
        <p:nvSpPr>
          <p:cNvPr id="18" name="Text 16"/>
          <p:cNvSpPr txBox="1"/>
          <p:nvPr/>
        </p:nvSpPr>
        <p:spPr>
          <a:xfrm>
            <a:off x="3291840" y="2322576"/>
            <a:ext cx="2578608" cy="51206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Intent hint: prepends "Please summarize: " if needed</a:t>
            </a:r>
            <a:endParaRPr lang="en-US" sz="950" dirty="0"/>
          </a:p>
        </p:txBody>
      </p:sp>
      <p:sp>
        <p:nvSpPr>
          <p:cNvPr id="19" name="Text 17"/>
          <p:cNvSpPr txBox="1"/>
          <p:nvPr/>
        </p:nvSpPr>
        <p:spPr>
          <a:xfrm>
            <a:off x="3291840" y="2889504"/>
            <a:ext cx="2578608" cy="51206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st.chat_input + st.chat_message for chat UI</a:t>
            </a:r>
            <a:endParaRPr lang="en-US" sz="950" dirty="0"/>
          </a:p>
        </p:txBody>
      </p:sp>
      <p:sp>
        <p:nvSpPr>
          <p:cNvPr id="20" name="Text 18"/>
          <p:cNvSpPr txBox="1"/>
          <p:nvPr/>
        </p:nvSpPr>
        <p:spPr>
          <a:xfrm>
            <a:off x="3291840" y="3456432"/>
            <a:ext cx="2578608" cy="51206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🗑️ Clear chat button with st.rerun()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6089904" y="685800"/>
            <a:ext cx="2788920" cy="4224528"/>
          </a:xfrm>
          <a:prstGeom prst="roundRect">
            <a:avLst>
              <a:gd name="adj" fmla="val 2623"/>
            </a:avLst>
          </a:prstGeom>
          <a:solidFill>
            <a:srgbClr val="FFF1F2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089904" y="749808"/>
            <a:ext cx="2788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🧮  Calculator</a:t>
            </a:r>
            <a:endParaRPr lang="en-US" sz="1150" dirty="0"/>
          </a:p>
        </p:txBody>
      </p:sp>
      <p:sp>
        <p:nvSpPr>
          <p:cNvPr id="23" name="Text 21"/>
          <p:cNvSpPr txBox="1"/>
          <p:nvPr/>
        </p:nvSpPr>
        <p:spPr>
          <a:xfrm>
            <a:off x="6199632" y="1188720"/>
            <a:ext cx="2578608" cy="51206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Separate calc_assistant per tab in session_state</a:t>
            </a:r>
            <a:endParaRPr lang="en-US" sz="950" dirty="0"/>
          </a:p>
        </p:txBody>
      </p:sp>
      <p:sp>
        <p:nvSpPr>
          <p:cNvPr id="24" name="Text 22"/>
          <p:cNvSpPr txBox="1"/>
          <p:nvPr/>
        </p:nvSpPr>
        <p:spPr>
          <a:xfrm>
            <a:off x="6199632" y="1755648"/>
            <a:ext cx="2578608" cy="51206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Example questions in st.expander</a:t>
            </a:r>
            <a:endParaRPr lang="en-US" sz="950" dirty="0"/>
          </a:p>
        </p:txBody>
      </p:sp>
      <p:sp>
        <p:nvSpPr>
          <p:cNvPr id="25" name="Text 23"/>
          <p:cNvSpPr txBox="1"/>
          <p:nvPr/>
        </p:nvSpPr>
        <p:spPr>
          <a:xfrm>
            <a:off x="6199632" y="2322576"/>
            <a:ext cx="2578608" cy="51206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Intent hint: prepends "Calculate: " if needed</a:t>
            </a:r>
            <a:endParaRPr lang="en-US" sz="950" dirty="0"/>
          </a:p>
        </p:txBody>
      </p:sp>
      <p:sp>
        <p:nvSpPr>
          <p:cNvPr id="26" name="Text 24"/>
          <p:cNvSpPr txBox="1"/>
          <p:nvPr/>
        </p:nvSpPr>
        <p:spPr>
          <a:xfrm>
            <a:off x="6199632" y="2889504"/>
            <a:ext cx="2578608" cy="51206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Same chat pattern as Summarization tab</a:t>
            </a:r>
            <a:endParaRPr lang="en-US" sz="950" dirty="0"/>
          </a:p>
        </p:txBody>
      </p:sp>
      <p:sp>
        <p:nvSpPr>
          <p:cNvPr id="27" name="Text 25"/>
          <p:cNvSpPr txBox="1"/>
          <p:nvPr/>
        </p:nvSpPr>
        <p:spPr>
          <a:xfrm>
            <a:off x="6199632" y="3456432"/>
            <a:ext cx="2578608" cy="51206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Shared retriever singleton across all tabs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274320" y="4782312"/>
            <a:ext cx="8595360" cy="182880"/>
          </a:xfrm>
          <a:prstGeom prst="roundRect">
            <a:avLst>
              <a:gd name="adj" fmla="val 20000"/>
            </a:avLst>
          </a:prstGeom>
          <a:solidFill>
            <a:srgbClr val="D1FAE5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320040" y="4791456"/>
            <a:ext cx="8503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64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Theme: #f0fdf4 (light green bg) · #d1fae5 (tab bar) · #10b981 (active tab) · Hospital SVG doodle in header · st.set_page_config must be first call</a:t>
            </a:r>
            <a:endParaRPr lang="en-US" sz="7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9FAF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64E3B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74320" y="45720"/>
            <a:ext cx="8229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🧠  AgentState — The 11-Field Shared State (TypedDict)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8503920" y="45720"/>
            <a:ext cx="594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7F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12/20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D1FAE5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274320" y="640080"/>
            <a:ext cx="8595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node reads from and writes to this shared state. LangGraph merges updates automatically using reducers.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74320" y="877824"/>
            <a:ext cx="8595360" cy="274320"/>
          </a:xfrm>
          <a:prstGeom prst="rect">
            <a:avLst/>
          </a:prstGeom>
          <a:solidFill>
            <a:srgbClr val="064E3B"/>
          </a:solidFill>
          <a:ln w="12700">
            <a:solidFill>
              <a:srgbClr val="064E3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47472" y="88696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</a:t>
            </a:r>
            <a:endParaRPr lang="en-US" sz="950" dirty="0"/>
          </a:p>
        </p:txBody>
      </p:sp>
      <p:sp>
        <p:nvSpPr>
          <p:cNvPr id="10" name="Text 8"/>
          <p:cNvSpPr txBox="1"/>
          <p:nvPr/>
        </p:nvSpPr>
        <p:spPr>
          <a:xfrm>
            <a:off x="2221992" y="886968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4279392" y="886968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Reducer</a:t>
            </a:r>
            <a:endParaRPr lang="en-US" sz="950" dirty="0"/>
          </a:p>
        </p:txBody>
      </p:sp>
      <p:sp>
        <p:nvSpPr>
          <p:cNvPr id="12" name="Text 10"/>
          <p:cNvSpPr txBox="1"/>
          <p:nvPr/>
        </p:nvSpPr>
        <p:spPr>
          <a:xfrm>
            <a:off x="5696712" y="886968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Purpose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274320" y="1152144"/>
            <a:ext cx="8595360" cy="338328"/>
          </a:xfrm>
          <a:prstGeom prst="rect">
            <a:avLst/>
          </a:prstGeom>
          <a:solidFill>
            <a:srgbClr val="F9FAFB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347472" y="1152144"/>
            <a:ext cx="178308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user_input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2221992" y="1152144"/>
            <a:ext cx="196596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</a:t>
            </a:r>
            <a:endParaRPr lang="en-US" sz="850" dirty="0"/>
          </a:p>
        </p:txBody>
      </p:sp>
      <p:sp>
        <p:nvSpPr>
          <p:cNvPr id="16" name="Text 14"/>
          <p:cNvSpPr txBox="1"/>
          <p:nvPr/>
        </p:nvSpPr>
        <p:spPr>
          <a:xfrm>
            <a:off x="4279392" y="1152144"/>
            <a:ext cx="129844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850" dirty="0"/>
          </a:p>
        </p:txBody>
      </p:sp>
      <p:sp>
        <p:nvSpPr>
          <p:cNvPr id="17" name="Text 15"/>
          <p:cNvSpPr txBox="1"/>
          <p:nvPr/>
        </p:nvSpPr>
        <p:spPr>
          <a:xfrm>
            <a:off x="5696712" y="1152144"/>
            <a:ext cx="310896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user message for the current turn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274320" y="1499616"/>
            <a:ext cx="8595360" cy="338328"/>
          </a:xfrm>
          <a:prstGeom prst="rect">
            <a:avLst/>
          </a:prstGeom>
          <a:solidFill>
            <a:srgbClr val="EFF6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347472" y="1499616"/>
            <a:ext cx="178308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messages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2221992" y="1499616"/>
            <a:ext cx="196596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List[BaseMessage]</a:t>
            </a:r>
            <a:endParaRPr lang="en-US" sz="850" dirty="0"/>
          </a:p>
        </p:txBody>
      </p:sp>
      <p:sp>
        <p:nvSpPr>
          <p:cNvPr id="21" name="Text 19"/>
          <p:cNvSpPr txBox="1"/>
          <p:nvPr/>
        </p:nvSpPr>
        <p:spPr>
          <a:xfrm>
            <a:off x="4279392" y="1499616"/>
            <a:ext cx="129844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add_messages</a:t>
            </a:r>
            <a:endParaRPr lang="en-US" sz="850" dirty="0"/>
          </a:p>
        </p:txBody>
      </p:sp>
      <p:sp>
        <p:nvSpPr>
          <p:cNvPr id="22" name="Text 20"/>
          <p:cNvSpPr txBox="1"/>
          <p:nvPr/>
        </p:nvSpPr>
        <p:spPr>
          <a:xfrm>
            <a:off x="5696712" y="1499616"/>
            <a:ext cx="310896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conversation history — LangGraph appends, never overwrites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274320" y="1847088"/>
            <a:ext cx="8595360" cy="338328"/>
          </a:xfrm>
          <a:prstGeom prst="rect">
            <a:avLst/>
          </a:prstGeom>
          <a:solidFill>
            <a:srgbClr val="F9FAFB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347472" y="1847088"/>
            <a:ext cx="178308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intent</a:t>
            </a:r>
            <a:endParaRPr lang="en-US" sz="900" dirty="0"/>
          </a:p>
        </p:txBody>
      </p:sp>
      <p:sp>
        <p:nvSpPr>
          <p:cNvPr id="25" name="Text 23"/>
          <p:cNvSpPr txBox="1"/>
          <p:nvPr/>
        </p:nvSpPr>
        <p:spPr>
          <a:xfrm>
            <a:off x="2221992" y="1847088"/>
            <a:ext cx="196596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UserIntent | None</a:t>
            </a:r>
            <a:endParaRPr lang="en-US" sz="850" dirty="0"/>
          </a:p>
        </p:txBody>
      </p:sp>
      <p:sp>
        <p:nvSpPr>
          <p:cNvPr id="26" name="Text 24"/>
          <p:cNvSpPr txBox="1"/>
          <p:nvPr/>
        </p:nvSpPr>
        <p:spPr>
          <a:xfrm>
            <a:off x="4279392" y="1847088"/>
            <a:ext cx="129844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850" dirty="0"/>
          </a:p>
        </p:txBody>
      </p:sp>
      <p:sp>
        <p:nvSpPr>
          <p:cNvPr id="27" name="Text 25"/>
          <p:cNvSpPr txBox="1"/>
          <p:nvPr/>
        </p:nvSpPr>
        <p:spPr>
          <a:xfrm>
            <a:off x="5696712" y="1847088"/>
            <a:ext cx="310896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Classified intent object from classify_intent node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274320" y="2194560"/>
            <a:ext cx="8595360" cy="338328"/>
          </a:xfrm>
          <a:prstGeom prst="rect">
            <a:avLst/>
          </a:prstGeom>
          <a:solidFill>
            <a:srgbClr val="F5F3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347472" y="2194560"/>
            <a:ext cx="178308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next_step</a:t>
            </a:r>
            <a:endParaRPr lang="en-US" sz="900" dirty="0"/>
          </a:p>
        </p:txBody>
      </p:sp>
      <p:sp>
        <p:nvSpPr>
          <p:cNvPr id="30" name="Text 28"/>
          <p:cNvSpPr txBox="1"/>
          <p:nvPr/>
        </p:nvSpPr>
        <p:spPr>
          <a:xfrm>
            <a:off x="2221992" y="2194560"/>
            <a:ext cx="196596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</a:t>
            </a:r>
            <a:endParaRPr lang="en-US" sz="850" dirty="0"/>
          </a:p>
        </p:txBody>
      </p:sp>
      <p:sp>
        <p:nvSpPr>
          <p:cNvPr id="31" name="Text 29"/>
          <p:cNvSpPr txBox="1"/>
          <p:nvPr/>
        </p:nvSpPr>
        <p:spPr>
          <a:xfrm>
            <a:off x="4279392" y="2194560"/>
            <a:ext cx="129844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850" dirty="0"/>
          </a:p>
        </p:txBody>
      </p:sp>
      <p:sp>
        <p:nvSpPr>
          <p:cNvPr id="32" name="Text 30"/>
          <p:cNvSpPr txBox="1"/>
          <p:nvPr/>
        </p:nvSpPr>
        <p:spPr>
          <a:xfrm>
            <a:off x="5696712" y="2194560"/>
            <a:ext cx="310896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Routing target: "qa_agent", "summarization_agent", "calculation_agent"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274320" y="2542032"/>
            <a:ext cx="8595360" cy="338328"/>
          </a:xfrm>
          <a:prstGeom prst="rect">
            <a:avLst/>
          </a:prstGeom>
          <a:solidFill>
            <a:srgbClr val="F9FAFB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347472" y="2542032"/>
            <a:ext cx="178308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conversation_summary</a:t>
            </a:r>
            <a:endParaRPr lang="en-US" sz="900" dirty="0"/>
          </a:p>
        </p:txBody>
      </p:sp>
      <p:sp>
        <p:nvSpPr>
          <p:cNvPr id="35" name="Text 33"/>
          <p:cNvSpPr txBox="1"/>
          <p:nvPr/>
        </p:nvSpPr>
        <p:spPr>
          <a:xfrm>
            <a:off x="2221992" y="2542032"/>
            <a:ext cx="196596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</a:t>
            </a:r>
            <a:endParaRPr lang="en-US" sz="850" dirty="0"/>
          </a:p>
        </p:txBody>
      </p:sp>
      <p:sp>
        <p:nvSpPr>
          <p:cNvPr id="36" name="Text 34"/>
          <p:cNvSpPr txBox="1"/>
          <p:nvPr/>
        </p:nvSpPr>
        <p:spPr>
          <a:xfrm>
            <a:off x="4279392" y="2542032"/>
            <a:ext cx="129844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850" dirty="0"/>
          </a:p>
        </p:txBody>
      </p:sp>
      <p:sp>
        <p:nvSpPr>
          <p:cNvPr id="37" name="Text 35"/>
          <p:cNvSpPr txBox="1"/>
          <p:nvPr/>
        </p:nvSpPr>
        <p:spPr>
          <a:xfrm>
            <a:off x="5696712" y="2542032"/>
            <a:ext cx="310896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LLM-written rolling summary of recent turns</a:t>
            </a:r>
            <a:endParaRPr lang="en-US" sz="850" dirty="0"/>
          </a:p>
        </p:txBody>
      </p:sp>
      <p:sp>
        <p:nvSpPr>
          <p:cNvPr id="38" name="Shape 36"/>
          <p:cNvSpPr/>
          <p:nvPr/>
        </p:nvSpPr>
        <p:spPr>
          <a:xfrm>
            <a:off x="274320" y="2889504"/>
            <a:ext cx="8595360" cy="338328"/>
          </a:xfrm>
          <a:prstGeom prst="rect">
            <a:avLst/>
          </a:prstGeom>
          <a:solidFill>
            <a:srgbClr val="FFFBEB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347472" y="2889504"/>
            <a:ext cx="178308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active_documents</a:t>
            </a:r>
            <a:endParaRPr lang="en-US" sz="900" dirty="0"/>
          </a:p>
        </p:txBody>
      </p:sp>
      <p:sp>
        <p:nvSpPr>
          <p:cNvPr id="40" name="Text 38"/>
          <p:cNvSpPr txBox="1"/>
          <p:nvPr/>
        </p:nvSpPr>
        <p:spPr>
          <a:xfrm>
            <a:off x="2221992" y="2889504"/>
            <a:ext cx="196596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List[str]</a:t>
            </a:r>
            <a:endParaRPr lang="en-US" sz="850" dirty="0"/>
          </a:p>
        </p:txBody>
      </p:sp>
      <p:sp>
        <p:nvSpPr>
          <p:cNvPr id="41" name="Text 39"/>
          <p:cNvSpPr txBox="1"/>
          <p:nvPr/>
        </p:nvSpPr>
        <p:spPr>
          <a:xfrm>
            <a:off x="4279392" y="2889504"/>
            <a:ext cx="129844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850" dirty="0"/>
          </a:p>
        </p:txBody>
      </p:sp>
      <p:sp>
        <p:nvSpPr>
          <p:cNvPr id="42" name="Text 40"/>
          <p:cNvSpPr txBox="1"/>
          <p:nvPr/>
        </p:nvSpPr>
        <p:spPr>
          <a:xfrm>
            <a:off x="5696712" y="2889504"/>
            <a:ext cx="310896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 IDs referenced so far in this session</a:t>
            </a:r>
            <a:endParaRPr lang="en-US" sz="850" dirty="0"/>
          </a:p>
        </p:txBody>
      </p:sp>
      <p:sp>
        <p:nvSpPr>
          <p:cNvPr id="43" name="Shape 41"/>
          <p:cNvSpPr/>
          <p:nvPr/>
        </p:nvSpPr>
        <p:spPr>
          <a:xfrm>
            <a:off x="274320" y="3236976"/>
            <a:ext cx="8595360" cy="338328"/>
          </a:xfrm>
          <a:prstGeom prst="rect">
            <a:avLst/>
          </a:prstGeom>
          <a:solidFill>
            <a:srgbClr val="F9FAFB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347472" y="3236976"/>
            <a:ext cx="178308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current_response</a:t>
            </a:r>
            <a:endParaRPr lang="en-US" sz="900" dirty="0"/>
          </a:p>
        </p:txBody>
      </p:sp>
      <p:sp>
        <p:nvSpPr>
          <p:cNvPr id="45" name="Text 43"/>
          <p:cNvSpPr txBox="1"/>
          <p:nvPr/>
        </p:nvSpPr>
        <p:spPr>
          <a:xfrm>
            <a:off x="2221992" y="3236976"/>
            <a:ext cx="196596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Pydantic | None</a:t>
            </a:r>
            <a:endParaRPr lang="en-US" sz="850" dirty="0"/>
          </a:p>
        </p:txBody>
      </p:sp>
      <p:sp>
        <p:nvSpPr>
          <p:cNvPr id="46" name="Text 44"/>
          <p:cNvSpPr txBox="1"/>
          <p:nvPr/>
        </p:nvSpPr>
        <p:spPr>
          <a:xfrm>
            <a:off x="4279392" y="3236976"/>
            <a:ext cx="129844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850" dirty="0"/>
          </a:p>
        </p:txBody>
      </p:sp>
      <p:sp>
        <p:nvSpPr>
          <p:cNvPr id="47" name="Text 45"/>
          <p:cNvSpPr txBox="1"/>
          <p:nvPr/>
        </p:nvSpPr>
        <p:spPr>
          <a:xfrm>
            <a:off x="5696712" y="3236976"/>
            <a:ext cx="310896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output from whichever agent ran this turn</a:t>
            </a:r>
            <a:endParaRPr lang="en-US" sz="850" dirty="0"/>
          </a:p>
        </p:txBody>
      </p:sp>
      <p:sp>
        <p:nvSpPr>
          <p:cNvPr id="48" name="Shape 46"/>
          <p:cNvSpPr/>
          <p:nvPr/>
        </p:nvSpPr>
        <p:spPr>
          <a:xfrm>
            <a:off x="274320" y="3584448"/>
            <a:ext cx="8595360" cy="338328"/>
          </a:xfrm>
          <a:prstGeom prst="rect">
            <a:avLst/>
          </a:prstGeom>
          <a:solidFill>
            <a:srgbClr val="CFFAFE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347472" y="3584448"/>
            <a:ext cx="178308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tools_used</a:t>
            </a:r>
            <a:endParaRPr lang="en-US" sz="900" dirty="0"/>
          </a:p>
        </p:txBody>
      </p:sp>
      <p:sp>
        <p:nvSpPr>
          <p:cNvPr id="50" name="Text 48"/>
          <p:cNvSpPr txBox="1"/>
          <p:nvPr/>
        </p:nvSpPr>
        <p:spPr>
          <a:xfrm>
            <a:off x="2221992" y="3584448"/>
            <a:ext cx="196596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List[str]</a:t>
            </a:r>
            <a:endParaRPr lang="en-US" sz="850" dirty="0"/>
          </a:p>
        </p:txBody>
      </p:sp>
      <p:sp>
        <p:nvSpPr>
          <p:cNvPr id="51" name="Text 49"/>
          <p:cNvSpPr txBox="1"/>
          <p:nvPr/>
        </p:nvSpPr>
        <p:spPr>
          <a:xfrm>
            <a:off x="4279392" y="3584448"/>
            <a:ext cx="129844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850" dirty="0"/>
          </a:p>
        </p:txBody>
      </p:sp>
      <p:sp>
        <p:nvSpPr>
          <p:cNvPr id="52" name="Text 50"/>
          <p:cNvSpPr txBox="1"/>
          <p:nvPr/>
        </p:nvSpPr>
        <p:spPr>
          <a:xfrm>
            <a:off x="5696712" y="3584448"/>
            <a:ext cx="310896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Names of tools called during this turn</a:t>
            </a:r>
            <a:endParaRPr lang="en-US" sz="850" dirty="0"/>
          </a:p>
        </p:txBody>
      </p:sp>
      <p:sp>
        <p:nvSpPr>
          <p:cNvPr id="53" name="Shape 51"/>
          <p:cNvSpPr/>
          <p:nvPr/>
        </p:nvSpPr>
        <p:spPr>
          <a:xfrm>
            <a:off x="274320" y="3931920"/>
            <a:ext cx="8595360" cy="338328"/>
          </a:xfrm>
          <a:prstGeom prst="rect">
            <a:avLst/>
          </a:prstGeom>
          <a:solidFill>
            <a:srgbClr val="F9FAFB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347472" y="3931920"/>
            <a:ext cx="178308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session_id</a:t>
            </a:r>
            <a:endParaRPr lang="en-US" sz="900" dirty="0"/>
          </a:p>
        </p:txBody>
      </p:sp>
      <p:sp>
        <p:nvSpPr>
          <p:cNvPr id="55" name="Text 53"/>
          <p:cNvSpPr txBox="1"/>
          <p:nvPr/>
        </p:nvSpPr>
        <p:spPr>
          <a:xfrm>
            <a:off x="2221992" y="3931920"/>
            <a:ext cx="196596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</a:t>
            </a:r>
            <a:endParaRPr lang="en-US" sz="850" dirty="0"/>
          </a:p>
        </p:txBody>
      </p:sp>
      <p:sp>
        <p:nvSpPr>
          <p:cNvPr id="56" name="Text 54"/>
          <p:cNvSpPr txBox="1"/>
          <p:nvPr/>
        </p:nvSpPr>
        <p:spPr>
          <a:xfrm>
            <a:off x="4279392" y="3931920"/>
            <a:ext cx="129844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850" dirty="0"/>
          </a:p>
        </p:txBody>
      </p:sp>
      <p:sp>
        <p:nvSpPr>
          <p:cNvPr id="57" name="Text 55"/>
          <p:cNvSpPr txBox="1"/>
          <p:nvPr/>
        </p:nvSpPr>
        <p:spPr>
          <a:xfrm>
            <a:off x="5696712" y="3931920"/>
            <a:ext cx="310896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LangGraph thread_id for InMemorySaver checkpoint key</a:t>
            </a:r>
            <a:endParaRPr lang="en-US" sz="850" dirty="0"/>
          </a:p>
        </p:txBody>
      </p:sp>
      <p:sp>
        <p:nvSpPr>
          <p:cNvPr id="58" name="Shape 56"/>
          <p:cNvSpPr/>
          <p:nvPr/>
        </p:nvSpPr>
        <p:spPr>
          <a:xfrm>
            <a:off x="274320" y="4279392"/>
            <a:ext cx="8595360" cy="338328"/>
          </a:xfrm>
          <a:prstGeom prst="rect">
            <a:avLst/>
          </a:prstGeom>
          <a:solidFill>
            <a:srgbClr val="FFF1F2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347472" y="4279392"/>
            <a:ext cx="178308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user_id</a:t>
            </a:r>
            <a:endParaRPr lang="en-US" sz="900" dirty="0"/>
          </a:p>
        </p:txBody>
      </p:sp>
      <p:sp>
        <p:nvSpPr>
          <p:cNvPr id="60" name="Text 58"/>
          <p:cNvSpPr txBox="1"/>
          <p:nvPr/>
        </p:nvSpPr>
        <p:spPr>
          <a:xfrm>
            <a:off x="2221992" y="4279392"/>
            <a:ext cx="196596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</a:t>
            </a:r>
            <a:endParaRPr lang="en-US" sz="850" dirty="0"/>
          </a:p>
        </p:txBody>
      </p:sp>
      <p:sp>
        <p:nvSpPr>
          <p:cNvPr id="61" name="Text 59"/>
          <p:cNvSpPr txBox="1"/>
          <p:nvPr/>
        </p:nvSpPr>
        <p:spPr>
          <a:xfrm>
            <a:off x="4279392" y="4279392"/>
            <a:ext cx="129844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850" dirty="0"/>
          </a:p>
        </p:txBody>
      </p:sp>
      <p:sp>
        <p:nvSpPr>
          <p:cNvPr id="62" name="Text 60"/>
          <p:cNvSpPr txBox="1"/>
          <p:nvPr/>
        </p:nvSpPr>
        <p:spPr>
          <a:xfrm>
            <a:off x="5696712" y="4279392"/>
            <a:ext cx="310896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identifier passed through to state</a:t>
            </a:r>
            <a:endParaRPr lang="en-US" sz="850" dirty="0"/>
          </a:p>
        </p:txBody>
      </p:sp>
      <p:sp>
        <p:nvSpPr>
          <p:cNvPr id="63" name="Shape 61"/>
          <p:cNvSpPr/>
          <p:nvPr/>
        </p:nvSpPr>
        <p:spPr>
          <a:xfrm>
            <a:off x="274320" y="4626864"/>
            <a:ext cx="8595360" cy="338328"/>
          </a:xfrm>
          <a:prstGeom prst="rect">
            <a:avLst/>
          </a:prstGeom>
          <a:solidFill>
            <a:srgbClr val="D1FAE5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347472" y="4626864"/>
            <a:ext cx="178308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actions_taken</a:t>
            </a:r>
            <a:endParaRPr lang="en-US" sz="900" dirty="0"/>
          </a:p>
        </p:txBody>
      </p:sp>
      <p:sp>
        <p:nvSpPr>
          <p:cNvPr id="65" name="Text 63"/>
          <p:cNvSpPr txBox="1"/>
          <p:nvPr/>
        </p:nvSpPr>
        <p:spPr>
          <a:xfrm>
            <a:off x="2221992" y="4626864"/>
            <a:ext cx="196596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List[str]</a:t>
            </a:r>
            <a:endParaRPr lang="en-US" sz="850" dirty="0"/>
          </a:p>
        </p:txBody>
      </p:sp>
      <p:sp>
        <p:nvSpPr>
          <p:cNvPr id="66" name="Text 64"/>
          <p:cNvSpPr txBox="1"/>
          <p:nvPr/>
        </p:nvSpPr>
        <p:spPr>
          <a:xfrm>
            <a:off x="4279392" y="4626864"/>
            <a:ext cx="129844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operator.add</a:t>
            </a:r>
            <a:endParaRPr lang="en-US" sz="850" dirty="0"/>
          </a:p>
        </p:txBody>
      </p:sp>
      <p:sp>
        <p:nvSpPr>
          <p:cNvPr id="67" name="Text 65"/>
          <p:cNvSpPr txBox="1"/>
          <p:nvPr/>
        </p:nvSpPr>
        <p:spPr>
          <a:xfrm>
            <a:off x="5696712" y="4626864"/>
            <a:ext cx="310896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 names accumulated across the turn — never reset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9FAF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64E3B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74320" y="45720"/>
            <a:ext cx="8229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🔵  Graph Nodes 1–3 : classify_intent · qa_agent · summarization_agent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8503920" y="45720"/>
            <a:ext cx="594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7F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13/20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D1FAE5"/>
          </a:solidFill>
          <a:ln/>
        </p:spPr>
      </p:sp>
      <p:sp>
        <p:nvSpPr>
          <p:cNvPr id="7" name="Shape 5"/>
          <p:cNvSpPr/>
          <p:nvPr/>
        </p:nvSpPr>
        <p:spPr>
          <a:xfrm>
            <a:off x="274320" y="685800"/>
            <a:ext cx="8595360" cy="1353312"/>
          </a:xfrm>
          <a:prstGeom prst="roundRect">
            <a:avLst>
              <a:gd name="adj" fmla="val 5405"/>
            </a:avLst>
          </a:prstGeom>
          <a:solidFill>
            <a:srgbClr val="EFF6FF"/>
          </a:solidFill>
          <a:ln w="19050">
            <a:solidFill>
              <a:srgbClr val="1D4ED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02336" y="740664"/>
            <a:ext cx="8321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classify_intent  (Router)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402336" y="1033272"/>
            <a:ext cx="2011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READS</a:t>
            </a:r>
            <a:endParaRPr lang="en-US" sz="800" dirty="0"/>
          </a:p>
        </p:txBody>
      </p:sp>
      <p:sp>
        <p:nvSpPr>
          <p:cNvPr id="10" name="Text 8"/>
          <p:cNvSpPr txBox="1"/>
          <p:nvPr/>
        </p:nvSpPr>
        <p:spPr>
          <a:xfrm>
            <a:off x="402336" y="1197864"/>
            <a:ext cx="2011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user_input, messages (last 6)</a:t>
            </a:r>
            <a:endParaRPr lang="en-US" sz="850" dirty="0"/>
          </a:p>
        </p:txBody>
      </p:sp>
      <p:sp>
        <p:nvSpPr>
          <p:cNvPr id="11" name="Text 9"/>
          <p:cNvSpPr txBox="1"/>
          <p:nvPr/>
        </p:nvSpPr>
        <p:spPr>
          <a:xfrm>
            <a:off x="2551176" y="1033272"/>
            <a:ext cx="2011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WRITES</a:t>
            </a:r>
            <a:endParaRPr lang="en-US" sz="800" dirty="0"/>
          </a:p>
        </p:txBody>
      </p:sp>
      <p:sp>
        <p:nvSpPr>
          <p:cNvPr id="12" name="Text 10"/>
          <p:cNvSpPr txBox="1"/>
          <p:nvPr/>
        </p:nvSpPr>
        <p:spPr>
          <a:xfrm>
            <a:off x="2551176" y="1197864"/>
            <a:ext cx="2011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intent (UserIntent), next_step, actions_taken</a:t>
            </a:r>
            <a:endParaRPr lang="en-US" sz="850" dirty="0"/>
          </a:p>
        </p:txBody>
      </p:sp>
      <p:sp>
        <p:nvSpPr>
          <p:cNvPr id="13" name="Text 11"/>
          <p:cNvSpPr txBox="1"/>
          <p:nvPr/>
        </p:nvSpPr>
        <p:spPr>
          <a:xfrm>
            <a:off x="4700016" y="1033272"/>
            <a:ext cx="2011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</a:t>
            </a:r>
            <a:endParaRPr lang="en-US" sz="800" dirty="0"/>
          </a:p>
        </p:txBody>
      </p:sp>
      <p:sp>
        <p:nvSpPr>
          <p:cNvPr id="14" name="Text 12"/>
          <p:cNvSpPr txBox="1"/>
          <p:nvPr/>
        </p:nvSpPr>
        <p:spPr>
          <a:xfrm>
            <a:off x="4700016" y="1197864"/>
            <a:ext cx="2011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llm.with_structured_output(UserIntent) → maps intent_type to target node name</a:t>
            </a:r>
            <a:endParaRPr lang="en-US" sz="850" dirty="0"/>
          </a:p>
        </p:txBody>
      </p:sp>
      <p:sp>
        <p:nvSpPr>
          <p:cNvPr id="15" name="Text 13"/>
          <p:cNvSpPr txBox="1"/>
          <p:nvPr/>
        </p:nvSpPr>
        <p:spPr>
          <a:xfrm>
            <a:off x="6848856" y="1033272"/>
            <a:ext cx="2011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</a:t>
            </a:r>
            <a:endParaRPr lang="en-US" sz="800" dirty="0"/>
          </a:p>
        </p:txBody>
      </p:sp>
      <p:sp>
        <p:nvSpPr>
          <p:cNvPr id="16" name="Text 14"/>
          <p:cNvSpPr txBox="1"/>
          <p:nvPr/>
        </p:nvSpPr>
        <p:spPr>
          <a:xfrm>
            <a:off x="6848856" y="1197864"/>
            <a:ext cx="2011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Routes to: qa_agent | summarization_agent | calculation_agent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402336" y="1728216"/>
            <a:ext cx="8302752" cy="237744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6350">
            <a:solidFill>
              <a:srgbClr val="1D4ED8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57200" y="1737360"/>
            <a:ext cx="81930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Key: Only node that does NOT call tools. Reads intent_type from structured LLM output.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274320" y="2112264"/>
            <a:ext cx="8595360" cy="1353312"/>
          </a:xfrm>
          <a:prstGeom prst="roundRect">
            <a:avLst>
              <a:gd name="adj" fmla="val 5405"/>
            </a:avLst>
          </a:prstGeom>
          <a:solidFill>
            <a:srgbClr val="EFF6FF"/>
          </a:solidFill>
          <a:ln w="19050">
            <a:solidFill>
              <a:srgbClr val="1D4ED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02336" y="2167128"/>
            <a:ext cx="8321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 qa_agent  (Q&amp;A)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402336" y="2459736"/>
            <a:ext cx="2011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READS</a:t>
            </a:r>
            <a:endParaRPr lang="en-US" sz="800" dirty="0"/>
          </a:p>
        </p:txBody>
      </p:sp>
      <p:sp>
        <p:nvSpPr>
          <p:cNvPr id="22" name="Text 20"/>
          <p:cNvSpPr txBox="1"/>
          <p:nvPr/>
        </p:nvSpPr>
        <p:spPr>
          <a:xfrm>
            <a:off x="402336" y="2624328"/>
            <a:ext cx="2011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user_input, tools (from config)</a:t>
            </a:r>
            <a:endParaRPr lang="en-US" sz="850" dirty="0"/>
          </a:p>
        </p:txBody>
      </p:sp>
      <p:sp>
        <p:nvSpPr>
          <p:cNvPr id="23" name="Text 21"/>
          <p:cNvSpPr txBox="1"/>
          <p:nvPr/>
        </p:nvSpPr>
        <p:spPr>
          <a:xfrm>
            <a:off x="2551176" y="2459736"/>
            <a:ext cx="2011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WRITES</a:t>
            </a:r>
            <a:endParaRPr lang="en-US" sz="800" dirty="0"/>
          </a:p>
        </p:txBody>
      </p:sp>
      <p:sp>
        <p:nvSpPr>
          <p:cNvPr id="24" name="Text 22"/>
          <p:cNvSpPr txBox="1"/>
          <p:nvPr/>
        </p:nvSpPr>
        <p:spPr>
          <a:xfrm>
            <a:off x="2551176" y="2624328"/>
            <a:ext cx="2011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current_response (AnswerResponse), messages, tools_used, actions_taken</a:t>
            </a:r>
            <a:endParaRPr lang="en-US" sz="850" dirty="0"/>
          </a:p>
        </p:txBody>
      </p:sp>
      <p:sp>
        <p:nvSpPr>
          <p:cNvPr id="25" name="Text 23"/>
          <p:cNvSpPr txBox="1"/>
          <p:nvPr/>
        </p:nvSpPr>
        <p:spPr>
          <a:xfrm>
            <a:off x="4700016" y="2459736"/>
            <a:ext cx="2011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</a:t>
            </a:r>
            <a:endParaRPr lang="en-US" sz="800" dirty="0"/>
          </a:p>
        </p:txBody>
      </p:sp>
      <p:sp>
        <p:nvSpPr>
          <p:cNvPr id="26" name="Text 24"/>
          <p:cNvSpPr txBox="1"/>
          <p:nvPr/>
        </p:nvSpPr>
        <p:spPr>
          <a:xfrm>
            <a:off x="4700016" y="2624328"/>
            <a:ext cx="2011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bind_tools(tools) → tool loop ×5 max → with_structured_output(AnswerResponse)</a:t>
            </a:r>
            <a:endParaRPr lang="en-US" sz="850" dirty="0"/>
          </a:p>
        </p:txBody>
      </p:sp>
      <p:sp>
        <p:nvSpPr>
          <p:cNvPr id="27" name="Text 25"/>
          <p:cNvSpPr txBox="1"/>
          <p:nvPr/>
        </p:nvSpPr>
        <p:spPr>
          <a:xfrm>
            <a:off x="6848856" y="2459736"/>
            <a:ext cx="2011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</a:t>
            </a:r>
            <a:endParaRPr lang="en-US" sz="800" dirty="0"/>
          </a:p>
        </p:txBody>
      </p:sp>
      <p:sp>
        <p:nvSpPr>
          <p:cNvPr id="28" name="Text 26"/>
          <p:cNvSpPr txBox="1"/>
          <p:nvPr/>
        </p:nvSpPr>
        <p:spPr>
          <a:xfrm>
            <a:off x="6848856" y="2624328"/>
            <a:ext cx="2011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Returns: question, answer, sources, confidence, timestamp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402336" y="3154680"/>
            <a:ext cx="8302752" cy="237744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6350">
            <a:solidFill>
              <a:srgbClr val="1D4ED8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457200" y="3163824"/>
            <a:ext cx="81930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Key: Two-phase: (1) gather document content via tool loop, (2) produce structured AnswerResponse.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274320" y="3538728"/>
            <a:ext cx="8595360" cy="1353312"/>
          </a:xfrm>
          <a:prstGeom prst="roundRect">
            <a:avLst>
              <a:gd name="adj" fmla="val 5405"/>
            </a:avLst>
          </a:prstGeom>
          <a:solidFill>
            <a:srgbClr val="F5F3FF"/>
          </a:solidFill>
          <a:ln w="19050">
            <a:solidFill>
              <a:srgbClr val="7C3AED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402336" y="3593592"/>
            <a:ext cx="8321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 summarization_agent  (Summary)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402336" y="3886200"/>
            <a:ext cx="2011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READS</a:t>
            </a:r>
            <a:endParaRPr lang="en-US" sz="800" dirty="0"/>
          </a:p>
        </p:txBody>
      </p:sp>
      <p:sp>
        <p:nvSpPr>
          <p:cNvPr id="34" name="Text 32"/>
          <p:cNvSpPr txBox="1"/>
          <p:nvPr/>
        </p:nvSpPr>
        <p:spPr>
          <a:xfrm>
            <a:off x="402336" y="4050792"/>
            <a:ext cx="2011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user_input, tools (from config)</a:t>
            </a:r>
            <a:endParaRPr lang="en-US" sz="850" dirty="0"/>
          </a:p>
        </p:txBody>
      </p:sp>
      <p:sp>
        <p:nvSpPr>
          <p:cNvPr id="35" name="Text 33"/>
          <p:cNvSpPr txBox="1"/>
          <p:nvPr/>
        </p:nvSpPr>
        <p:spPr>
          <a:xfrm>
            <a:off x="2551176" y="3886200"/>
            <a:ext cx="2011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WRITES</a:t>
            </a:r>
            <a:endParaRPr lang="en-US" sz="800" dirty="0"/>
          </a:p>
        </p:txBody>
      </p:sp>
      <p:sp>
        <p:nvSpPr>
          <p:cNvPr id="36" name="Text 34"/>
          <p:cNvSpPr txBox="1"/>
          <p:nvPr/>
        </p:nvSpPr>
        <p:spPr>
          <a:xfrm>
            <a:off x="2551176" y="4050792"/>
            <a:ext cx="2011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current_response (SummarizationResponse), messages, tools_used, actions_taken</a:t>
            </a:r>
            <a:endParaRPr lang="en-US" sz="850" dirty="0"/>
          </a:p>
        </p:txBody>
      </p:sp>
      <p:sp>
        <p:nvSpPr>
          <p:cNvPr id="37" name="Text 35"/>
          <p:cNvSpPr txBox="1"/>
          <p:nvPr/>
        </p:nvSpPr>
        <p:spPr>
          <a:xfrm>
            <a:off x="4700016" y="3886200"/>
            <a:ext cx="2011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</a:t>
            </a:r>
            <a:endParaRPr lang="en-US" sz="800" dirty="0"/>
          </a:p>
        </p:txBody>
      </p:sp>
      <p:sp>
        <p:nvSpPr>
          <p:cNvPr id="38" name="Text 36"/>
          <p:cNvSpPr txBox="1"/>
          <p:nvPr/>
        </p:nvSpPr>
        <p:spPr>
          <a:xfrm>
            <a:off x="4700016" y="4050792"/>
            <a:ext cx="2011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bind_tools(tools) → tool loop ×5 max → with_structured_output(SummarizationResponse)</a:t>
            </a:r>
            <a:endParaRPr lang="en-US" sz="850" dirty="0"/>
          </a:p>
        </p:txBody>
      </p:sp>
      <p:sp>
        <p:nvSpPr>
          <p:cNvPr id="39" name="Text 37"/>
          <p:cNvSpPr txBox="1"/>
          <p:nvPr/>
        </p:nvSpPr>
        <p:spPr>
          <a:xfrm>
            <a:off x="6848856" y="3886200"/>
            <a:ext cx="2011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</a:t>
            </a:r>
            <a:endParaRPr lang="en-US" sz="800" dirty="0"/>
          </a:p>
        </p:txBody>
      </p:sp>
      <p:sp>
        <p:nvSpPr>
          <p:cNvPr id="40" name="Text 38"/>
          <p:cNvSpPr txBox="1"/>
          <p:nvPr/>
        </p:nvSpPr>
        <p:spPr>
          <a:xfrm>
            <a:off x="6848856" y="4050792"/>
            <a:ext cx="2011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Returns: summary, key_points (3–7), sources, timestamp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402336" y="4581144"/>
            <a:ext cx="8302752" cy="237744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6350">
            <a:solidFill>
              <a:srgbClr val="7C3AED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457200" y="4590288"/>
            <a:ext cx="81930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Key: Same two-phase pattern as qa_agent. Prompt forces concise summary + bullet points.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9FAF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64E3B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74320" y="45720"/>
            <a:ext cx="8229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🔴🟢  Graph Nodes 4–5 : calculation_agent · update_memory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8503920" y="45720"/>
            <a:ext cx="594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7F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14/20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D1FAE5"/>
          </a:solidFill>
          <a:ln/>
        </p:spPr>
      </p:sp>
      <p:sp>
        <p:nvSpPr>
          <p:cNvPr id="7" name="Shape 5"/>
          <p:cNvSpPr/>
          <p:nvPr/>
        </p:nvSpPr>
        <p:spPr>
          <a:xfrm>
            <a:off x="274320" y="713232"/>
            <a:ext cx="8595360" cy="2029968"/>
          </a:xfrm>
          <a:prstGeom prst="roundRect">
            <a:avLst>
              <a:gd name="adj" fmla="val 3604"/>
            </a:avLst>
          </a:prstGeom>
          <a:solidFill>
            <a:srgbClr val="FFF1F2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02336" y="786384"/>
            <a:ext cx="8321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④ calculation_agent  (Calculator)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402336" y="1170432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READS</a:t>
            </a:r>
            <a:endParaRPr lang="en-US" sz="800" dirty="0"/>
          </a:p>
        </p:txBody>
      </p:sp>
      <p:sp>
        <p:nvSpPr>
          <p:cNvPr id="10" name="Text 8"/>
          <p:cNvSpPr txBox="1"/>
          <p:nvPr/>
        </p:nvSpPr>
        <p:spPr>
          <a:xfrm>
            <a:off x="402336" y="1353312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user_input, tools (from config)</a:t>
            </a:r>
            <a:endParaRPr lang="en-US" sz="850" dirty="0"/>
          </a:p>
        </p:txBody>
      </p:sp>
      <p:sp>
        <p:nvSpPr>
          <p:cNvPr id="11" name="Text 9"/>
          <p:cNvSpPr txBox="1"/>
          <p:nvPr/>
        </p:nvSpPr>
        <p:spPr>
          <a:xfrm>
            <a:off x="2551176" y="1170432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WRITES</a:t>
            </a:r>
            <a:endParaRPr lang="en-US" sz="800" dirty="0"/>
          </a:p>
        </p:txBody>
      </p:sp>
      <p:sp>
        <p:nvSpPr>
          <p:cNvPr id="12" name="Text 10"/>
          <p:cNvSpPr txBox="1"/>
          <p:nvPr/>
        </p:nvSpPr>
        <p:spPr>
          <a:xfrm>
            <a:off x="2551176" y="1353312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current_response (CalculationResponse), messages, tools_used, actions_taken</a:t>
            </a:r>
            <a:endParaRPr lang="en-US" sz="850" dirty="0"/>
          </a:p>
        </p:txBody>
      </p:sp>
      <p:sp>
        <p:nvSpPr>
          <p:cNvPr id="13" name="Text 11"/>
          <p:cNvSpPr txBox="1"/>
          <p:nvPr/>
        </p:nvSpPr>
        <p:spPr>
          <a:xfrm>
            <a:off x="4700016" y="1170432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</a:t>
            </a:r>
            <a:endParaRPr lang="en-US" sz="800" dirty="0"/>
          </a:p>
        </p:txBody>
      </p:sp>
      <p:sp>
        <p:nvSpPr>
          <p:cNvPr id="14" name="Text 12"/>
          <p:cNvSpPr txBox="1"/>
          <p:nvPr/>
        </p:nvSpPr>
        <p:spPr>
          <a:xfrm>
            <a:off x="4700016" y="1353312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bind_tools(tools) → tool loop ×8 max → with_structured_output(CalculationResponse)</a:t>
            </a:r>
            <a:endParaRPr lang="en-US" sz="850" dirty="0"/>
          </a:p>
        </p:txBody>
      </p:sp>
      <p:sp>
        <p:nvSpPr>
          <p:cNvPr id="15" name="Text 13"/>
          <p:cNvSpPr txBox="1"/>
          <p:nvPr/>
        </p:nvSpPr>
        <p:spPr>
          <a:xfrm>
            <a:off x="6848856" y="1170432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</a:t>
            </a:r>
            <a:endParaRPr lang="en-US" sz="800" dirty="0"/>
          </a:p>
        </p:txBody>
      </p:sp>
      <p:sp>
        <p:nvSpPr>
          <p:cNvPr id="16" name="Text 14"/>
          <p:cNvSpPr txBox="1"/>
          <p:nvPr/>
        </p:nvSpPr>
        <p:spPr>
          <a:xfrm>
            <a:off x="6848856" y="1353312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Returns: question, result (with units), expression, sources, timestamp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402336" y="2130552"/>
            <a:ext cx="8302752" cy="530352"/>
          </a:xfrm>
          <a:prstGeom prst="roundRect">
            <a:avLst>
              <a:gd name="adj" fmla="val 8621"/>
            </a:avLst>
          </a:prstGeom>
          <a:solidFill>
            <a:srgbClr val="FFFFFF"/>
          </a:solidFill>
          <a:ln w="635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57200" y="2148840"/>
            <a:ext cx="8193024" cy="49377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Key: Longer loop (max_iter=8) so model can call document_reader THEN calculator. Prompt enforces tool use for all arithmetic.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274320" y="2834640"/>
            <a:ext cx="8595360" cy="2029968"/>
          </a:xfrm>
          <a:prstGeom prst="roundRect">
            <a:avLst>
              <a:gd name="adj" fmla="val 3604"/>
            </a:avLst>
          </a:prstGeom>
          <a:solidFill>
            <a:srgbClr val="D1FAE5"/>
          </a:solidFill>
          <a:ln w="19050">
            <a:solidFill>
              <a:srgbClr val="10B981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02336" y="2907792"/>
            <a:ext cx="8321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⑤ update_memory  (Convergence &amp; Memory)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402336" y="3291840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READS</a:t>
            </a:r>
            <a:endParaRPr lang="en-US" sz="800" dirty="0"/>
          </a:p>
        </p:txBody>
      </p:sp>
      <p:sp>
        <p:nvSpPr>
          <p:cNvPr id="22" name="Text 20"/>
          <p:cNvSpPr txBox="1"/>
          <p:nvPr/>
        </p:nvSpPr>
        <p:spPr>
          <a:xfrm>
            <a:off x="402336" y="347472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messages (last 10), current_response, active_documents, llm (from config)</a:t>
            </a:r>
            <a:endParaRPr lang="en-US" sz="850" dirty="0"/>
          </a:p>
        </p:txBody>
      </p:sp>
      <p:sp>
        <p:nvSpPr>
          <p:cNvPr id="23" name="Text 21"/>
          <p:cNvSpPr txBox="1"/>
          <p:nvPr/>
        </p:nvSpPr>
        <p:spPr>
          <a:xfrm>
            <a:off x="2551176" y="3291840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WRITES</a:t>
            </a:r>
            <a:endParaRPr lang="en-US" sz="800" dirty="0"/>
          </a:p>
        </p:txBody>
      </p:sp>
      <p:sp>
        <p:nvSpPr>
          <p:cNvPr id="24" name="Text 22"/>
          <p:cNvSpPr txBox="1"/>
          <p:nvPr/>
        </p:nvSpPr>
        <p:spPr>
          <a:xfrm>
            <a:off x="2551176" y="347472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conversation_summary, active_documents (merged), next_step=END, actions_taken</a:t>
            </a:r>
            <a:endParaRPr lang="en-US" sz="850" dirty="0"/>
          </a:p>
        </p:txBody>
      </p:sp>
      <p:sp>
        <p:nvSpPr>
          <p:cNvPr id="25" name="Text 23"/>
          <p:cNvSpPr txBox="1"/>
          <p:nvPr/>
        </p:nvSpPr>
        <p:spPr>
          <a:xfrm>
            <a:off x="4700016" y="3291840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</a:t>
            </a:r>
            <a:endParaRPr lang="en-US" sz="800" dirty="0"/>
          </a:p>
        </p:txBody>
      </p:sp>
      <p:sp>
        <p:nvSpPr>
          <p:cNvPr id="26" name="Text 24"/>
          <p:cNvSpPr txBox="1"/>
          <p:nvPr/>
        </p:nvSpPr>
        <p:spPr>
          <a:xfrm>
            <a:off x="4700016" y="347472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summarises recent messages → extracts source doc IDs from current_response.sources → merges into active_documents list</a:t>
            </a:r>
            <a:endParaRPr lang="en-US" sz="850" dirty="0"/>
          </a:p>
        </p:txBody>
      </p:sp>
      <p:sp>
        <p:nvSpPr>
          <p:cNvPr id="27" name="Text 25"/>
          <p:cNvSpPr txBox="1"/>
          <p:nvPr/>
        </p:nvSpPr>
        <p:spPr>
          <a:xfrm>
            <a:off x="6848856" y="3291840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</a:t>
            </a:r>
            <a:endParaRPr lang="en-US" sz="800" dirty="0"/>
          </a:p>
        </p:txBody>
      </p:sp>
      <p:sp>
        <p:nvSpPr>
          <p:cNvPr id="28" name="Text 26"/>
          <p:cNvSpPr txBox="1"/>
          <p:nvPr/>
        </p:nvSpPr>
        <p:spPr>
          <a:xfrm>
            <a:off x="6848856" y="347472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Sets next_step to END — the graph terminates. Every agent path converges here.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402336" y="4251960"/>
            <a:ext cx="8302752" cy="530352"/>
          </a:xfrm>
          <a:prstGeom prst="roundRect">
            <a:avLst>
              <a:gd name="adj" fmla="val 8621"/>
            </a:avLst>
          </a:prstGeom>
          <a:solidFill>
            <a:srgbClr val="FFFFFF"/>
          </a:solidFill>
          <a:ln w="6350">
            <a:solidFill>
              <a:srgbClr val="10B981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457200" y="4270248"/>
            <a:ext cx="8193024" cy="49377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Key: Mandatory final node. Provides persistent memory of which documents were used across multi-turn conversations.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9FAF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64E3B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74320" y="45720"/>
            <a:ext cx="8229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📊  LangGraph Workflow Diagram — StateGraph Visual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8503920" y="45720"/>
            <a:ext cx="594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7F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15/20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D1FAE5"/>
          </a:solidFill>
          <a:ln/>
        </p:spPr>
      </p:sp>
      <p:sp>
        <p:nvSpPr>
          <p:cNvPr id="7" name="Shape 5"/>
          <p:cNvSpPr/>
          <p:nvPr/>
        </p:nvSpPr>
        <p:spPr>
          <a:xfrm>
            <a:off x="4160520" y="685800"/>
            <a:ext cx="822960" cy="365760"/>
          </a:xfrm>
          <a:prstGeom prst="ellipse">
            <a:avLst/>
          </a:prstGeom>
          <a:solidFill>
            <a:srgbClr val="064E3B"/>
          </a:solidFill>
          <a:ln w="12700">
            <a:solidFill>
              <a:srgbClr val="064E3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160520" y="685800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572000" y="1051560"/>
            <a:ext cx="0" cy="338328"/>
          </a:xfrm>
          <a:prstGeom prst="line">
            <a:avLst/>
          </a:prstGeom>
          <a:noFill/>
          <a:ln w="17780">
            <a:solidFill>
              <a:srgbClr val="064E3B"/>
            </a:solidFill>
            <a:prstDash val="solid"/>
            <a:tailEnd type="arrow"/>
          </a:ln>
        </p:spPr>
      </p:sp>
      <p:sp>
        <p:nvSpPr>
          <p:cNvPr id="10" name="Shape 8"/>
          <p:cNvSpPr/>
          <p:nvPr/>
        </p:nvSpPr>
        <p:spPr>
          <a:xfrm>
            <a:off x="3246120" y="1389888"/>
            <a:ext cx="2651760" cy="548640"/>
          </a:xfrm>
          <a:prstGeom prst="roundRect">
            <a:avLst>
              <a:gd name="adj" fmla="val 10000"/>
            </a:avLst>
          </a:prstGeom>
          <a:solidFill>
            <a:srgbClr val="DBEAFE"/>
          </a:solidFill>
          <a:ln w="15240">
            <a:solidFill>
              <a:srgbClr val="1D4ED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246120" y="1389888"/>
            <a:ext cx="2651760" cy="54864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classify_intent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(Router — LLM structured output)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3840480" y="1938528"/>
            <a:ext cx="0" cy="393192"/>
          </a:xfrm>
          <a:prstGeom prst="line">
            <a:avLst/>
          </a:prstGeom>
          <a:noFill/>
          <a:ln w="17780">
            <a:solidFill>
              <a:srgbClr val="1D4ED8"/>
            </a:solidFill>
            <a:prstDash val="solid"/>
            <a:tailEnd type="arrow"/>
          </a:ln>
        </p:spPr>
      </p:sp>
      <p:sp>
        <p:nvSpPr>
          <p:cNvPr id="13" name="Shape 11"/>
          <p:cNvSpPr/>
          <p:nvPr/>
        </p:nvSpPr>
        <p:spPr>
          <a:xfrm>
            <a:off x="4572000" y="1938528"/>
            <a:ext cx="0" cy="393192"/>
          </a:xfrm>
          <a:prstGeom prst="line">
            <a:avLst/>
          </a:prstGeom>
          <a:noFill/>
          <a:ln w="17780">
            <a:solidFill>
              <a:srgbClr val="7C3AED"/>
            </a:solidFill>
            <a:prstDash val="solid"/>
            <a:tailEnd type="arrow"/>
          </a:ln>
        </p:spPr>
      </p:sp>
      <p:sp>
        <p:nvSpPr>
          <p:cNvPr id="14" name="Shape 12"/>
          <p:cNvSpPr/>
          <p:nvPr/>
        </p:nvSpPr>
        <p:spPr>
          <a:xfrm>
            <a:off x="5303520" y="1938528"/>
            <a:ext cx="0" cy="393192"/>
          </a:xfrm>
          <a:prstGeom prst="line">
            <a:avLst/>
          </a:prstGeom>
          <a:noFill/>
          <a:ln w="17780">
            <a:solidFill>
              <a:srgbClr val="DC2626"/>
            </a:solidFill>
            <a:prstDash val="solid"/>
            <a:tailEnd type="arrow"/>
          </a:ln>
        </p:spPr>
      </p:sp>
      <p:sp>
        <p:nvSpPr>
          <p:cNvPr id="15" name="Text 13"/>
          <p:cNvSpPr txBox="1"/>
          <p:nvPr/>
        </p:nvSpPr>
        <p:spPr>
          <a:xfrm>
            <a:off x="1920240" y="2029968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intent=qa</a:t>
            </a:r>
            <a:endParaRPr lang="en-US" sz="800" dirty="0"/>
          </a:p>
        </p:txBody>
      </p:sp>
      <p:sp>
        <p:nvSpPr>
          <p:cNvPr id="16" name="Text 14"/>
          <p:cNvSpPr txBox="1"/>
          <p:nvPr/>
        </p:nvSpPr>
        <p:spPr>
          <a:xfrm>
            <a:off x="4251960" y="1965960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intent=summarization</a:t>
            </a:r>
            <a:endParaRPr lang="en-US" sz="800" dirty="0"/>
          </a:p>
        </p:txBody>
      </p:sp>
      <p:sp>
        <p:nvSpPr>
          <p:cNvPr id="17" name="Text 15"/>
          <p:cNvSpPr txBox="1"/>
          <p:nvPr/>
        </p:nvSpPr>
        <p:spPr>
          <a:xfrm>
            <a:off x="5349240" y="2029968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intent=calculation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274320" y="2331720"/>
            <a:ext cx="2560320" cy="566928"/>
          </a:xfrm>
          <a:prstGeom prst="roundRect">
            <a:avLst>
              <a:gd name="adj" fmla="val 9677"/>
            </a:avLst>
          </a:prstGeom>
          <a:solidFill>
            <a:srgbClr val="EFF6FF"/>
          </a:solidFill>
          <a:ln w="15240">
            <a:solidFill>
              <a:srgbClr val="1D4ED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74320" y="2331720"/>
            <a:ext cx="2560320" cy="56692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 qa_agent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AnswerResponse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3291840" y="2331720"/>
            <a:ext cx="2560320" cy="566928"/>
          </a:xfrm>
          <a:prstGeom prst="roundRect">
            <a:avLst>
              <a:gd name="adj" fmla="val 9677"/>
            </a:avLst>
          </a:prstGeom>
          <a:solidFill>
            <a:srgbClr val="F5F3FF"/>
          </a:solidFill>
          <a:ln w="15240">
            <a:solidFill>
              <a:srgbClr val="7C3AED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291840" y="2331720"/>
            <a:ext cx="2560320" cy="56692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 summarization_agent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SummarizationResponse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6309360" y="2331720"/>
            <a:ext cx="2560320" cy="566928"/>
          </a:xfrm>
          <a:prstGeom prst="roundRect">
            <a:avLst>
              <a:gd name="adj" fmla="val 9677"/>
            </a:avLst>
          </a:prstGeom>
          <a:solidFill>
            <a:srgbClr val="FFF1F2"/>
          </a:solidFill>
          <a:ln w="15240">
            <a:solidFill>
              <a:srgbClr val="DC2626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309360" y="2331720"/>
            <a:ext cx="2560320" cy="56692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④ calculation_agent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CalculationResponse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1554480" y="2898648"/>
            <a:ext cx="2103120" cy="640080"/>
          </a:xfrm>
          <a:prstGeom prst="line">
            <a:avLst/>
          </a:prstGeom>
          <a:noFill/>
          <a:ln w="15240">
            <a:solidFill>
              <a:srgbClr val="374151"/>
            </a:solidFill>
            <a:prstDash val="solid"/>
            <a:tailEnd type="arrow"/>
          </a:ln>
        </p:spPr>
      </p:sp>
      <p:sp>
        <p:nvSpPr>
          <p:cNvPr id="25" name="Shape 23"/>
          <p:cNvSpPr/>
          <p:nvPr/>
        </p:nvSpPr>
        <p:spPr>
          <a:xfrm>
            <a:off x="4572000" y="2898648"/>
            <a:ext cx="0" cy="640080"/>
          </a:xfrm>
          <a:prstGeom prst="line">
            <a:avLst/>
          </a:prstGeom>
          <a:noFill/>
          <a:ln w="17780">
            <a:solidFill>
              <a:srgbClr val="374151"/>
            </a:solidFill>
            <a:prstDash val="solid"/>
            <a:tailEnd type="arrow"/>
          </a:ln>
        </p:spPr>
      </p:sp>
      <p:sp>
        <p:nvSpPr>
          <p:cNvPr id="26" name="Shape 24"/>
          <p:cNvSpPr/>
          <p:nvPr/>
        </p:nvSpPr>
        <p:spPr>
          <a:xfrm>
            <a:off x="7589520" y="2898648"/>
            <a:ext cx="-2103120" cy="640080"/>
          </a:xfrm>
          <a:prstGeom prst="line">
            <a:avLst/>
          </a:prstGeom>
          <a:noFill/>
          <a:ln w="15240">
            <a:solidFill>
              <a:srgbClr val="374151"/>
            </a:solidFill>
            <a:prstDash val="solid"/>
            <a:tailEnd type="arrow"/>
          </a:ln>
        </p:spPr>
      </p:sp>
      <p:sp>
        <p:nvSpPr>
          <p:cNvPr id="27" name="Shape 25"/>
          <p:cNvSpPr/>
          <p:nvPr/>
        </p:nvSpPr>
        <p:spPr>
          <a:xfrm>
            <a:off x="3246120" y="3538728"/>
            <a:ext cx="2651760" cy="548640"/>
          </a:xfrm>
          <a:prstGeom prst="roundRect">
            <a:avLst>
              <a:gd name="adj" fmla="val 10000"/>
            </a:avLst>
          </a:prstGeom>
          <a:solidFill>
            <a:srgbClr val="D1FAE5"/>
          </a:solidFill>
          <a:ln w="15240">
            <a:solidFill>
              <a:srgbClr val="10B981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3246120" y="3538728"/>
            <a:ext cx="2651760" cy="54864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64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⑤ update_memory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064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 &amp; Docs Tracking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4572000" y="4087368"/>
            <a:ext cx="0" cy="374904"/>
          </a:xfrm>
          <a:prstGeom prst="line">
            <a:avLst/>
          </a:prstGeom>
          <a:noFill/>
          <a:ln w="17780">
            <a:solidFill>
              <a:srgbClr val="10B981"/>
            </a:solidFill>
            <a:prstDash val="solid"/>
            <a:tailEnd type="arrow"/>
          </a:ln>
        </p:spPr>
      </p:sp>
      <p:sp>
        <p:nvSpPr>
          <p:cNvPr id="30" name="Shape 28"/>
          <p:cNvSpPr/>
          <p:nvPr/>
        </p:nvSpPr>
        <p:spPr>
          <a:xfrm>
            <a:off x="4160520" y="4462272"/>
            <a:ext cx="822960" cy="384048"/>
          </a:xfrm>
          <a:prstGeom prst="ellipse">
            <a:avLst/>
          </a:prstGeom>
          <a:solidFill>
            <a:srgbClr val="064E3B"/>
          </a:solidFill>
          <a:ln w="12700">
            <a:solidFill>
              <a:srgbClr val="064E3B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4160520" y="4462272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6949440" y="3383280"/>
            <a:ext cx="1920240" cy="594360"/>
          </a:xfrm>
          <a:prstGeom prst="roundRect">
            <a:avLst>
              <a:gd name="adj" fmla="val 9231"/>
            </a:avLst>
          </a:prstGeom>
          <a:solidFill>
            <a:srgbClr val="FFFBEB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995160" y="3401568"/>
            <a:ext cx="1828800" cy="566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InMemorySaver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checkpoints state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each node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274320" y="3383280"/>
            <a:ext cx="2148840" cy="86868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320040" y="3410712"/>
            <a:ext cx="2057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 Types</a:t>
            </a:r>
            <a:endParaRPr lang="en-US" sz="900" dirty="0"/>
          </a:p>
        </p:txBody>
      </p:sp>
      <p:sp>
        <p:nvSpPr>
          <p:cNvPr id="36" name="Text 34"/>
          <p:cNvSpPr txBox="1"/>
          <p:nvPr/>
        </p:nvSpPr>
        <p:spPr>
          <a:xfrm>
            <a:off x="320040" y="3593592"/>
            <a:ext cx="20574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─── Conditional (via _route_to_agent)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─── Fixed (add_edge)</a:t>
            </a:r>
            <a:endParaRPr lang="en-US" sz="8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9FAF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64E3B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74320" y="45720"/>
            <a:ext cx="8229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🔄  Step-by-Step Execution — "What is the Q2 net profit?" (example)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8503920" y="45720"/>
            <a:ext cx="594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7F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16/20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D1FAE5"/>
          </a:solidFill>
          <a:ln/>
        </p:spPr>
      </p:sp>
      <p:sp>
        <p:nvSpPr>
          <p:cNvPr id="7" name="Shape 5"/>
          <p:cNvSpPr/>
          <p:nvPr/>
        </p:nvSpPr>
        <p:spPr>
          <a:xfrm>
            <a:off x="274320" y="685800"/>
            <a:ext cx="4251960" cy="1005840"/>
          </a:xfrm>
          <a:prstGeom prst="roundRect">
            <a:avLst>
              <a:gd name="adj" fmla="val 6364"/>
            </a:avLst>
          </a:prstGeom>
          <a:solidFill>
            <a:srgbClr val="D1FAE5"/>
          </a:solidFill>
          <a:ln w="15240">
            <a:solidFill>
              <a:srgbClr val="10B98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84048" y="941832"/>
            <a:ext cx="329184" cy="329184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84048" y="94183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786384" y="740664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types in Streamlit calculator tab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786384" y="996696"/>
            <a:ext cx="3611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"What is the Q2 net profit?"  → intent hint prepended → "Calculate: What is the Q2 net profit?"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709160" y="685800"/>
            <a:ext cx="4251960" cy="1005840"/>
          </a:xfrm>
          <a:prstGeom prst="roundRect">
            <a:avLst>
              <a:gd name="adj" fmla="val 6364"/>
            </a:avLst>
          </a:prstGeom>
          <a:solidFill>
            <a:srgbClr val="EFF6FF"/>
          </a:solidFill>
          <a:ln w="15240">
            <a:solidFill>
              <a:srgbClr val="1D4ED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818888" y="941832"/>
            <a:ext cx="329184" cy="329184"/>
          </a:xfrm>
          <a:prstGeom prst="ellipse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818888" y="94183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5221224" y="740664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DocumentAssistant.process_message()</a:t>
            </a:r>
            <a:endParaRPr lang="en-US" sz="950" dirty="0"/>
          </a:p>
        </p:txBody>
      </p:sp>
      <p:sp>
        <p:nvSpPr>
          <p:cNvPr id="16" name="Text 14"/>
          <p:cNvSpPr txBox="1"/>
          <p:nvPr/>
        </p:nvSpPr>
        <p:spPr>
          <a:xfrm>
            <a:off x="5221224" y="996696"/>
            <a:ext cx="3611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Builds AgentState with user_input. Sets RunnableConfig: thread_id, llm (GPT-4o), tools (calculator + document_reader).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274320" y="1764792"/>
            <a:ext cx="4251960" cy="1005840"/>
          </a:xfrm>
          <a:prstGeom prst="roundRect">
            <a:avLst>
              <a:gd name="adj" fmla="val 6364"/>
            </a:avLst>
          </a:prstGeom>
          <a:solidFill>
            <a:srgbClr val="EFF6FF"/>
          </a:solidFill>
          <a:ln w="15240">
            <a:solidFill>
              <a:srgbClr val="1D4ED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84048" y="2020824"/>
            <a:ext cx="329184" cy="329184"/>
          </a:xfrm>
          <a:prstGeom prst="ellipse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384048" y="202082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786384" y="1819656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classify_intent node runs</a:t>
            </a:r>
            <a:endParaRPr lang="en-US" sz="950" dirty="0"/>
          </a:p>
        </p:txBody>
      </p:sp>
      <p:sp>
        <p:nvSpPr>
          <p:cNvPr id="21" name="Text 19"/>
          <p:cNvSpPr txBox="1"/>
          <p:nvPr/>
        </p:nvSpPr>
        <p:spPr>
          <a:xfrm>
            <a:off x="786384" y="2075688"/>
            <a:ext cx="3611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GPT-4o with UserIntent structured output → intent_type="calculation", confidence=0.95. Sets next_step="calculation_agent".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4709160" y="1764792"/>
            <a:ext cx="4251960" cy="1005840"/>
          </a:xfrm>
          <a:prstGeom prst="roundRect">
            <a:avLst>
              <a:gd name="adj" fmla="val 6364"/>
            </a:avLst>
          </a:prstGeom>
          <a:solidFill>
            <a:srgbClr val="FFF1F2"/>
          </a:solidFill>
          <a:ln w="15240">
            <a:solidFill>
              <a:srgbClr val="DC262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818888" y="2020824"/>
            <a:ext cx="329184" cy="32918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4818888" y="202082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5221224" y="1819656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calculation_agent — Phase 1: Tool loop (×8 max)</a:t>
            </a:r>
            <a:endParaRPr lang="en-US" sz="950" dirty="0"/>
          </a:p>
        </p:txBody>
      </p:sp>
      <p:sp>
        <p:nvSpPr>
          <p:cNvPr id="26" name="Text 24"/>
          <p:cNvSpPr txBox="1"/>
          <p:nvPr/>
        </p:nvSpPr>
        <p:spPr>
          <a:xfrm>
            <a:off x="5221224" y="2075688"/>
            <a:ext cx="3611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calls document_reader("doc_financial_q2") → gets Q2 report. Sees Net Profit: $1,900,000.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274320" y="2843784"/>
            <a:ext cx="4251960" cy="1005840"/>
          </a:xfrm>
          <a:prstGeom prst="roundRect">
            <a:avLst>
              <a:gd name="adj" fmla="val 6364"/>
            </a:avLst>
          </a:prstGeom>
          <a:solidFill>
            <a:srgbClr val="FFF1F2"/>
          </a:solidFill>
          <a:ln w="15240">
            <a:solidFill>
              <a:srgbClr val="DC262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84048" y="3099816"/>
            <a:ext cx="329184" cy="32918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384048" y="30998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30" name="Text 28"/>
          <p:cNvSpPr txBox="1"/>
          <p:nvPr/>
        </p:nvSpPr>
        <p:spPr>
          <a:xfrm>
            <a:off x="786384" y="2898648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calculation_agent — calculator tool called</a:t>
            </a:r>
            <a:endParaRPr lang="en-US" sz="950" dirty="0"/>
          </a:p>
        </p:txBody>
      </p:sp>
      <p:sp>
        <p:nvSpPr>
          <p:cNvPr id="31" name="Text 29"/>
          <p:cNvSpPr txBox="1"/>
          <p:nvPr/>
        </p:nvSpPr>
        <p:spPr>
          <a:xfrm>
            <a:off x="786384" y="3154680"/>
            <a:ext cx="3611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calls calculator("1900000") → "Result: 1,900,000". Context captured.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4709160" y="2843784"/>
            <a:ext cx="4251960" cy="1005840"/>
          </a:xfrm>
          <a:prstGeom prst="roundRect">
            <a:avLst>
              <a:gd name="adj" fmla="val 6364"/>
            </a:avLst>
          </a:prstGeom>
          <a:solidFill>
            <a:srgbClr val="FFF1F2"/>
          </a:solidFill>
          <a:ln w="15240">
            <a:solidFill>
              <a:srgbClr val="DC262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818888" y="3099816"/>
            <a:ext cx="329184" cy="32918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4818888" y="30998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35" name="Text 33"/>
          <p:cNvSpPr txBox="1"/>
          <p:nvPr/>
        </p:nvSpPr>
        <p:spPr>
          <a:xfrm>
            <a:off x="5221224" y="2898648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calculation_agent — Phase 2: Structured output</a:t>
            </a:r>
            <a:endParaRPr lang="en-US" sz="950" dirty="0"/>
          </a:p>
        </p:txBody>
      </p:sp>
      <p:sp>
        <p:nvSpPr>
          <p:cNvPr id="36" name="Text 34"/>
          <p:cNvSpPr txBox="1"/>
          <p:nvPr/>
        </p:nvSpPr>
        <p:spPr>
          <a:xfrm>
            <a:off x="5221224" y="3154680"/>
            <a:ext cx="3611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LLM.with_structured_output(CalculationResponse) → result="$1,900,000", expression="1900000", sources=["doc_financial_q2"].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274320" y="3922776"/>
            <a:ext cx="4251960" cy="1005840"/>
          </a:xfrm>
          <a:prstGeom prst="roundRect">
            <a:avLst>
              <a:gd name="adj" fmla="val 6364"/>
            </a:avLst>
          </a:prstGeom>
          <a:solidFill>
            <a:srgbClr val="D1FAE5"/>
          </a:solidFill>
          <a:ln w="15240">
            <a:solidFill>
              <a:srgbClr val="10B981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84048" y="4178808"/>
            <a:ext cx="329184" cy="329184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384048" y="41788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sp>
        <p:nvSpPr>
          <p:cNvPr id="40" name="Text 38"/>
          <p:cNvSpPr txBox="1"/>
          <p:nvPr/>
        </p:nvSpPr>
        <p:spPr>
          <a:xfrm>
            <a:off x="786384" y="3977640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update_memory node runs</a:t>
            </a:r>
            <a:endParaRPr lang="en-US" sz="950" dirty="0"/>
          </a:p>
        </p:txBody>
      </p:sp>
      <p:sp>
        <p:nvSpPr>
          <p:cNvPr id="41" name="Text 39"/>
          <p:cNvSpPr txBox="1"/>
          <p:nvPr/>
        </p:nvSpPr>
        <p:spPr>
          <a:xfrm>
            <a:off x="786384" y="4233672"/>
            <a:ext cx="3611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Summarises conversation. Adds "doc_financial_q2" to active_documents. Sets next_step=END.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709160" y="3922776"/>
            <a:ext cx="4251960" cy="1005840"/>
          </a:xfrm>
          <a:prstGeom prst="roundRect">
            <a:avLst>
              <a:gd name="adj" fmla="val 6364"/>
            </a:avLst>
          </a:prstGeom>
          <a:solidFill>
            <a:srgbClr val="E8F5E9"/>
          </a:solidFill>
          <a:ln w="15240">
            <a:solidFill>
              <a:srgbClr val="064E3B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818888" y="4178808"/>
            <a:ext cx="329184" cy="329184"/>
          </a:xfrm>
          <a:prstGeom prst="ellipse">
            <a:avLst/>
          </a:prstGeom>
          <a:solidFill>
            <a:srgbClr val="064E3B"/>
          </a:solidFill>
          <a:ln w="12700">
            <a:solidFill>
              <a:srgbClr val="064E3B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4818888" y="41788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sp>
        <p:nvSpPr>
          <p:cNvPr id="45" name="Text 43"/>
          <p:cNvSpPr txBox="1"/>
          <p:nvPr/>
        </p:nvSpPr>
        <p:spPr>
          <a:xfrm>
            <a:off x="5221224" y="3977640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64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Response returned to Streamlit</a:t>
            </a:r>
            <a:endParaRPr lang="en-US" sz="950" dirty="0"/>
          </a:p>
        </p:txBody>
      </p:sp>
      <p:sp>
        <p:nvSpPr>
          <p:cNvPr id="46" name="Text 44"/>
          <p:cNvSpPr txBox="1"/>
          <p:nvPr/>
        </p:nvSpPr>
        <p:spPr>
          <a:xfrm>
            <a:off x="5221224" y="4233672"/>
            <a:ext cx="3611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state["current_response"].result displayed in chat bubble: "The Q2 2026 net profit is $1,900,000."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9FAF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64E3B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74320" y="45720"/>
            <a:ext cx="8229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📤  Output Schemas — 3 Structured Response Types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8503920" y="45720"/>
            <a:ext cx="594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7F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17/20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D1FAE5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274320" y="640080"/>
            <a:ext cx="8595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specialist agent calls llm.with_structured_output(Schema) after its tool loop to guarantee typed, validated output.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74320" y="960120"/>
            <a:ext cx="2788920" cy="3931920"/>
          </a:xfrm>
          <a:prstGeom prst="roundRect">
            <a:avLst>
              <a:gd name="adj" fmla="val 2623"/>
            </a:avLst>
          </a:prstGeom>
          <a:solidFill>
            <a:srgbClr val="EFF6FF"/>
          </a:solidFill>
          <a:ln w="19050">
            <a:solidFill>
              <a:srgbClr val="1D4ED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65760" y="100584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AnswerResponse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47472" y="1280160"/>
            <a:ext cx="2651760" cy="219456"/>
          </a:xfrm>
          <a:prstGeom prst="roundRect">
            <a:avLst>
              <a:gd name="adj" fmla="val 16667"/>
            </a:avLst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47472" y="1280160"/>
            <a:ext cx="2651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Produced by qa_agent</a:t>
            </a:r>
            <a:endParaRPr lang="en-US" sz="800" dirty="0"/>
          </a:p>
        </p:txBody>
      </p:sp>
      <p:sp>
        <p:nvSpPr>
          <p:cNvPr id="12" name="Text 10"/>
          <p:cNvSpPr txBox="1"/>
          <p:nvPr/>
        </p:nvSpPr>
        <p:spPr>
          <a:xfrm>
            <a:off x="402336" y="1591056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</a:t>
            </a:r>
            <a:endParaRPr lang="en-US" sz="950" dirty="0"/>
          </a:p>
        </p:txBody>
      </p:sp>
      <p:sp>
        <p:nvSpPr>
          <p:cNvPr id="13" name="Text 11"/>
          <p:cNvSpPr txBox="1"/>
          <p:nvPr/>
        </p:nvSpPr>
        <p:spPr>
          <a:xfrm>
            <a:off x="402336" y="1764792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 — The user's original question</a:t>
            </a:r>
            <a:endParaRPr lang="en-US" sz="850" dirty="0"/>
          </a:p>
        </p:txBody>
      </p:sp>
      <p:sp>
        <p:nvSpPr>
          <p:cNvPr id="14" name="Text 12"/>
          <p:cNvSpPr txBox="1"/>
          <p:nvPr/>
        </p:nvSpPr>
        <p:spPr>
          <a:xfrm>
            <a:off x="402336" y="2093976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402336" y="2267712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 — Complete answer with explanation</a:t>
            </a:r>
            <a:endParaRPr lang="en-US" sz="850" dirty="0"/>
          </a:p>
        </p:txBody>
      </p:sp>
      <p:sp>
        <p:nvSpPr>
          <p:cNvPr id="16" name="Text 14"/>
          <p:cNvSpPr txBox="1"/>
          <p:nvPr/>
        </p:nvSpPr>
        <p:spPr>
          <a:xfrm>
            <a:off x="402336" y="2596896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</a:t>
            </a:r>
            <a:endParaRPr lang="en-US" sz="950" dirty="0"/>
          </a:p>
        </p:txBody>
      </p:sp>
      <p:sp>
        <p:nvSpPr>
          <p:cNvPr id="17" name="Text 15"/>
          <p:cNvSpPr txBox="1"/>
          <p:nvPr/>
        </p:nvSpPr>
        <p:spPr>
          <a:xfrm>
            <a:off x="402336" y="2770632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List[str] — Document IDs consulted</a:t>
            </a:r>
            <a:endParaRPr lang="en-US" sz="850" dirty="0"/>
          </a:p>
        </p:txBody>
      </p:sp>
      <p:sp>
        <p:nvSpPr>
          <p:cNvPr id="18" name="Text 16"/>
          <p:cNvSpPr txBox="1"/>
          <p:nvPr/>
        </p:nvSpPr>
        <p:spPr>
          <a:xfrm>
            <a:off x="402336" y="3099816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confidence</a:t>
            </a:r>
            <a:endParaRPr lang="en-US" sz="950" dirty="0"/>
          </a:p>
        </p:txBody>
      </p:sp>
      <p:sp>
        <p:nvSpPr>
          <p:cNvPr id="19" name="Text 17"/>
          <p:cNvSpPr txBox="1"/>
          <p:nvPr/>
        </p:nvSpPr>
        <p:spPr>
          <a:xfrm>
            <a:off x="402336" y="3273552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float 0–1 — Agent's confidence level</a:t>
            </a:r>
            <a:endParaRPr lang="en-US" sz="850" dirty="0"/>
          </a:p>
        </p:txBody>
      </p:sp>
      <p:sp>
        <p:nvSpPr>
          <p:cNvPr id="20" name="Text 18"/>
          <p:cNvSpPr txBox="1"/>
          <p:nvPr/>
        </p:nvSpPr>
        <p:spPr>
          <a:xfrm>
            <a:off x="402336" y="3602736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timestamp</a:t>
            </a:r>
            <a:endParaRPr lang="en-US" sz="950" dirty="0"/>
          </a:p>
        </p:txBody>
      </p:sp>
      <p:sp>
        <p:nvSpPr>
          <p:cNvPr id="21" name="Text 19"/>
          <p:cNvSpPr txBox="1"/>
          <p:nvPr/>
        </p:nvSpPr>
        <p:spPr>
          <a:xfrm>
            <a:off x="402336" y="3776472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datetime — Auto-populated by Pydantic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154680" y="960120"/>
            <a:ext cx="2788920" cy="3931920"/>
          </a:xfrm>
          <a:prstGeom prst="roundRect">
            <a:avLst>
              <a:gd name="adj" fmla="val 2623"/>
            </a:avLst>
          </a:prstGeom>
          <a:solidFill>
            <a:srgbClr val="F5F3FF"/>
          </a:solidFill>
          <a:ln w="19050">
            <a:solidFill>
              <a:srgbClr val="7C3AED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3246120" y="100584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SummarizationResponse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3227832" y="1280160"/>
            <a:ext cx="2651760" cy="219456"/>
          </a:xfrm>
          <a:prstGeom prst="roundRect">
            <a:avLst>
              <a:gd name="adj" fmla="val 16667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3227832" y="1280160"/>
            <a:ext cx="2651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Produced by summarization_agent</a:t>
            </a:r>
            <a:endParaRPr lang="en-US" sz="800" dirty="0"/>
          </a:p>
        </p:txBody>
      </p:sp>
      <p:sp>
        <p:nvSpPr>
          <p:cNvPr id="26" name="Text 24"/>
          <p:cNvSpPr txBox="1"/>
          <p:nvPr/>
        </p:nvSpPr>
        <p:spPr>
          <a:xfrm>
            <a:off x="3282696" y="1591056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summary</a:t>
            </a:r>
            <a:endParaRPr lang="en-US" sz="950" dirty="0"/>
          </a:p>
        </p:txBody>
      </p:sp>
      <p:sp>
        <p:nvSpPr>
          <p:cNvPr id="27" name="Text 25"/>
          <p:cNvSpPr txBox="1"/>
          <p:nvPr/>
        </p:nvSpPr>
        <p:spPr>
          <a:xfrm>
            <a:off x="3282696" y="1764792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 — Concise paragraph summary</a:t>
            </a:r>
            <a:endParaRPr lang="en-US" sz="850" dirty="0"/>
          </a:p>
        </p:txBody>
      </p:sp>
      <p:sp>
        <p:nvSpPr>
          <p:cNvPr id="28" name="Text 26"/>
          <p:cNvSpPr txBox="1"/>
          <p:nvPr/>
        </p:nvSpPr>
        <p:spPr>
          <a:xfrm>
            <a:off x="3282696" y="2093976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key_points</a:t>
            </a:r>
            <a:endParaRPr lang="en-US" sz="950" dirty="0"/>
          </a:p>
        </p:txBody>
      </p:sp>
      <p:sp>
        <p:nvSpPr>
          <p:cNvPr id="29" name="Text 27"/>
          <p:cNvSpPr txBox="1"/>
          <p:nvPr/>
        </p:nvSpPr>
        <p:spPr>
          <a:xfrm>
            <a:off x="3282696" y="2267712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List[str] — 3 to 7 bullet points</a:t>
            </a:r>
            <a:endParaRPr lang="en-US" sz="850" dirty="0"/>
          </a:p>
        </p:txBody>
      </p:sp>
      <p:sp>
        <p:nvSpPr>
          <p:cNvPr id="30" name="Text 28"/>
          <p:cNvSpPr txBox="1"/>
          <p:nvPr/>
        </p:nvSpPr>
        <p:spPr>
          <a:xfrm>
            <a:off x="3282696" y="2596896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</a:t>
            </a:r>
            <a:endParaRPr lang="en-US" sz="950" dirty="0"/>
          </a:p>
        </p:txBody>
      </p:sp>
      <p:sp>
        <p:nvSpPr>
          <p:cNvPr id="31" name="Text 29"/>
          <p:cNvSpPr txBox="1"/>
          <p:nvPr/>
        </p:nvSpPr>
        <p:spPr>
          <a:xfrm>
            <a:off x="3282696" y="2770632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List[str] — Document IDs used</a:t>
            </a:r>
            <a:endParaRPr lang="en-US" sz="850" dirty="0"/>
          </a:p>
        </p:txBody>
      </p:sp>
      <p:sp>
        <p:nvSpPr>
          <p:cNvPr id="32" name="Text 30"/>
          <p:cNvSpPr txBox="1"/>
          <p:nvPr/>
        </p:nvSpPr>
        <p:spPr>
          <a:xfrm>
            <a:off x="3282696" y="3099816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timestamp</a:t>
            </a:r>
            <a:endParaRPr lang="en-US" sz="950" dirty="0"/>
          </a:p>
        </p:txBody>
      </p:sp>
      <p:sp>
        <p:nvSpPr>
          <p:cNvPr id="33" name="Text 31"/>
          <p:cNvSpPr txBox="1"/>
          <p:nvPr/>
        </p:nvSpPr>
        <p:spPr>
          <a:xfrm>
            <a:off x="3282696" y="3273552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datetime — Auto-populated by Pydantic</a:t>
            </a:r>
            <a:endParaRPr lang="en-US" sz="850" dirty="0"/>
          </a:p>
        </p:txBody>
      </p:sp>
      <p:sp>
        <p:nvSpPr>
          <p:cNvPr id="34" name="Shape 32"/>
          <p:cNvSpPr/>
          <p:nvPr/>
        </p:nvSpPr>
        <p:spPr>
          <a:xfrm>
            <a:off x="6035040" y="960120"/>
            <a:ext cx="2788920" cy="3931920"/>
          </a:xfrm>
          <a:prstGeom prst="roundRect">
            <a:avLst>
              <a:gd name="adj" fmla="val 2623"/>
            </a:avLst>
          </a:prstGeom>
          <a:solidFill>
            <a:srgbClr val="FFF1F2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6126480" y="100584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CalculationResponse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6108192" y="1280160"/>
            <a:ext cx="2651760" cy="219456"/>
          </a:xfrm>
          <a:prstGeom prst="roundRect">
            <a:avLst>
              <a:gd name="adj" fmla="val 16667"/>
            </a:avLst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6108192" y="1280160"/>
            <a:ext cx="2651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Produced by calculation_agent</a:t>
            </a:r>
            <a:endParaRPr lang="en-US" sz="800" dirty="0"/>
          </a:p>
        </p:txBody>
      </p:sp>
      <p:sp>
        <p:nvSpPr>
          <p:cNvPr id="38" name="Text 36"/>
          <p:cNvSpPr txBox="1"/>
          <p:nvPr/>
        </p:nvSpPr>
        <p:spPr>
          <a:xfrm>
            <a:off x="6163056" y="1591056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</a:t>
            </a:r>
            <a:endParaRPr lang="en-US" sz="950" dirty="0"/>
          </a:p>
        </p:txBody>
      </p:sp>
      <p:sp>
        <p:nvSpPr>
          <p:cNvPr id="39" name="Text 37"/>
          <p:cNvSpPr txBox="1"/>
          <p:nvPr/>
        </p:nvSpPr>
        <p:spPr>
          <a:xfrm>
            <a:off x="6163056" y="1764792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 — Original question asked</a:t>
            </a:r>
            <a:endParaRPr lang="en-US" sz="850" dirty="0"/>
          </a:p>
        </p:txBody>
      </p:sp>
      <p:sp>
        <p:nvSpPr>
          <p:cNvPr id="40" name="Text 38"/>
          <p:cNvSpPr txBox="1"/>
          <p:nvPr/>
        </p:nvSpPr>
        <p:spPr>
          <a:xfrm>
            <a:off x="6163056" y="2093976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</a:t>
            </a:r>
            <a:endParaRPr lang="en-US" sz="950" dirty="0"/>
          </a:p>
        </p:txBody>
      </p:sp>
      <p:sp>
        <p:nvSpPr>
          <p:cNvPr id="41" name="Text 39"/>
          <p:cNvSpPr txBox="1"/>
          <p:nvPr/>
        </p:nvSpPr>
        <p:spPr>
          <a:xfrm>
            <a:off x="6163056" y="2267712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 — Numeric result with units &amp; context</a:t>
            </a:r>
            <a:endParaRPr lang="en-US" sz="850" dirty="0"/>
          </a:p>
        </p:txBody>
      </p:sp>
      <p:sp>
        <p:nvSpPr>
          <p:cNvPr id="42" name="Text 40"/>
          <p:cNvSpPr txBox="1"/>
          <p:nvPr/>
        </p:nvSpPr>
        <p:spPr>
          <a:xfrm>
            <a:off x="6163056" y="2596896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expression</a:t>
            </a:r>
            <a:endParaRPr lang="en-US" sz="950" dirty="0"/>
          </a:p>
        </p:txBody>
      </p:sp>
      <p:sp>
        <p:nvSpPr>
          <p:cNvPr id="43" name="Text 41"/>
          <p:cNvSpPr txBox="1"/>
          <p:nvPr/>
        </p:nvSpPr>
        <p:spPr>
          <a:xfrm>
            <a:off x="6163056" y="2770632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 — Math expression that was evaluated</a:t>
            </a:r>
            <a:endParaRPr lang="en-US" sz="850" dirty="0"/>
          </a:p>
        </p:txBody>
      </p:sp>
      <p:sp>
        <p:nvSpPr>
          <p:cNvPr id="44" name="Text 42"/>
          <p:cNvSpPr txBox="1"/>
          <p:nvPr/>
        </p:nvSpPr>
        <p:spPr>
          <a:xfrm>
            <a:off x="6163056" y="3099816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</a:t>
            </a:r>
            <a:endParaRPr lang="en-US" sz="950" dirty="0"/>
          </a:p>
        </p:txBody>
      </p:sp>
      <p:sp>
        <p:nvSpPr>
          <p:cNvPr id="45" name="Text 43"/>
          <p:cNvSpPr txBox="1"/>
          <p:nvPr/>
        </p:nvSpPr>
        <p:spPr>
          <a:xfrm>
            <a:off x="6163056" y="3273552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List[str] — Document IDs with source data</a:t>
            </a:r>
            <a:endParaRPr lang="en-US" sz="850" dirty="0"/>
          </a:p>
        </p:txBody>
      </p:sp>
      <p:sp>
        <p:nvSpPr>
          <p:cNvPr id="46" name="Text 44"/>
          <p:cNvSpPr txBox="1"/>
          <p:nvPr/>
        </p:nvSpPr>
        <p:spPr>
          <a:xfrm>
            <a:off x="6163056" y="3602736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timestamp</a:t>
            </a:r>
            <a:endParaRPr lang="en-US" sz="950" dirty="0"/>
          </a:p>
        </p:txBody>
      </p:sp>
      <p:sp>
        <p:nvSpPr>
          <p:cNvPr id="47" name="Text 45"/>
          <p:cNvSpPr txBox="1"/>
          <p:nvPr/>
        </p:nvSpPr>
        <p:spPr>
          <a:xfrm>
            <a:off x="6163056" y="3776472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datetime — Auto-populated by Pydantic</a:t>
            </a:r>
            <a:endParaRPr lang="en-US" sz="8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9FAF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64E3B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74320" y="45720"/>
            <a:ext cx="8229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📊  Sample Data — 4 CSV Files Included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8503920" y="45720"/>
            <a:ext cx="594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7F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18/20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D1FAE5"/>
          </a:solidFill>
          <a:ln/>
        </p:spPr>
      </p:sp>
      <p:sp>
        <p:nvSpPr>
          <p:cNvPr id="7" name="Shape 5"/>
          <p:cNvSpPr/>
          <p:nvPr/>
        </p:nvSpPr>
        <p:spPr>
          <a:xfrm>
            <a:off x="274320" y="685800"/>
            <a:ext cx="8595360" cy="1005840"/>
          </a:xfrm>
          <a:prstGeom prst="roundRect">
            <a:avLst>
              <a:gd name="adj" fmla="val 7273"/>
            </a:avLst>
          </a:prstGeom>
          <a:solidFill>
            <a:srgbClr val="EFF6FF"/>
          </a:solidFill>
          <a:ln w="15240">
            <a:solidFill>
              <a:srgbClr val="1D4ED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02336" y="749808"/>
            <a:ext cx="5943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finance_transactions_500.csv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492240" y="758952"/>
            <a:ext cx="868680" cy="274320"/>
          </a:xfrm>
          <a:prstGeom prst="roundRect">
            <a:avLst>
              <a:gd name="adj" fmla="val 13333"/>
            </a:avLst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92240" y="758952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500 rows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402336" y="101498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Columns: Transaction_ID, Date, Quarter, Region, Product, Channel, Units_Sold, Unit_Price_USD, Revenue_USD, Discount_Pct, Net_Revenue_USD, COGS_USD, Gross_Profit_USD, Sales_Rep, Status, Customer_Segment</a:t>
            </a:r>
            <a:endParaRPr lang="en-US" sz="850" dirty="0"/>
          </a:p>
        </p:txBody>
      </p:sp>
      <p:sp>
        <p:nvSpPr>
          <p:cNvPr id="12" name="Text 10"/>
          <p:cNvSpPr txBox="1"/>
          <p:nvPr/>
        </p:nvSpPr>
        <p:spPr>
          <a:xfrm>
            <a:off x="402336" y="12801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columns · Regions: N/S/E/W/Central · Products: SaaS Pro, Consulting, etc. · 5 Sales Reps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274320" y="1764792"/>
            <a:ext cx="8595360" cy="1005840"/>
          </a:xfrm>
          <a:prstGeom prst="roundRect">
            <a:avLst>
              <a:gd name="adj" fmla="val 7273"/>
            </a:avLst>
          </a:prstGeom>
          <a:solidFill>
            <a:srgbClr val="F5F3FF"/>
          </a:solidFill>
          <a:ln w="15240">
            <a:solidFill>
              <a:srgbClr val="7C3AED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02336" y="1828800"/>
            <a:ext cx="5943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hospital_patient_records_500.csv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492240" y="1837944"/>
            <a:ext cx="868680" cy="274320"/>
          </a:xfrm>
          <a:prstGeom prst="roundRect">
            <a:avLst>
              <a:gd name="adj" fmla="val 1333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92240" y="1837944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500 rows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402336" y="2093976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Columns: Patient_ID, Admission_Date, Discharge_Date, Department, Primary_Diagnosis, Age, Gender, Length_of_Stay_Days, Total_Cost_USD, Insurance_Type, Insurance_Covered_USD, Patient_Paid_USD, Outcome, Readmitted_30Days, Satisfaction_Score, Attending_Physician</a:t>
            </a:r>
            <a:endParaRPr lang="en-US" sz="850" dirty="0"/>
          </a:p>
        </p:txBody>
      </p:sp>
      <p:sp>
        <p:nvSpPr>
          <p:cNvPr id="18" name="Text 16"/>
          <p:cNvSpPr txBox="1"/>
          <p:nvPr/>
        </p:nvSpPr>
        <p:spPr>
          <a:xfrm>
            <a:off x="402336" y="23591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columns · 10 Departments · Insurance: Private/Medicare/Medicaid/Self-Pay · 10 Physicians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274320" y="2843784"/>
            <a:ext cx="8595360" cy="1005840"/>
          </a:xfrm>
          <a:prstGeom prst="roundRect">
            <a:avLst>
              <a:gd name="adj" fmla="val 7273"/>
            </a:avLst>
          </a:prstGeom>
          <a:solidFill>
            <a:srgbClr val="FFFBEB"/>
          </a:solidFill>
          <a:ln w="15240">
            <a:solidFill>
              <a:srgbClr val="D9770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02336" y="2907792"/>
            <a:ext cx="5943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q3_2026_financial_report.csv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492240" y="2916936"/>
            <a:ext cx="868680" cy="274320"/>
          </a:xfrm>
          <a:prstGeom prst="roundRect">
            <a:avLst>
              <a:gd name="adj" fmla="val 13333"/>
            </a:avLst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492240" y="2916936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 rows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402336" y="317296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Columns: Quarter summary: Revenue, Operating Expenses, Net Profit, Gross Margin, Customer counts, Asset &amp; Liability data</a:t>
            </a:r>
            <a:endParaRPr lang="en-US" sz="850" dirty="0"/>
          </a:p>
        </p:txBody>
      </p:sp>
      <p:sp>
        <p:nvSpPr>
          <p:cNvPr id="24" name="Text 22"/>
          <p:cNvSpPr txBox="1"/>
          <p:nvPr/>
        </p:nvSpPr>
        <p:spPr>
          <a:xfrm>
            <a:off x="402336" y="343814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Summary-format CSV · Used for quick Q&amp;A and calculation queries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274320" y="3922776"/>
            <a:ext cx="8595360" cy="1005840"/>
          </a:xfrm>
          <a:prstGeom prst="roundRect">
            <a:avLst>
              <a:gd name="adj" fmla="val 7273"/>
            </a:avLst>
          </a:prstGeom>
          <a:solidFill>
            <a:srgbClr val="CFFAFE"/>
          </a:solidFill>
          <a:ln w="15240">
            <a:solidFill>
              <a:srgbClr val="0891B2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402336" y="3986784"/>
            <a:ext cx="5943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city_hospital_department_stats.csv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492240" y="3995928"/>
            <a:ext cx="868680" cy="274320"/>
          </a:xfrm>
          <a:prstGeom prst="roundRect">
            <a:avLst>
              <a:gd name="adj" fmla="val 13333"/>
            </a:avLst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492240" y="3995928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rows</a:t>
            </a:r>
            <a:endParaRPr lang="en-US" sz="900" dirty="0"/>
          </a:p>
        </p:txBody>
      </p:sp>
      <p:sp>
        <p:nvSpPr>
          <p:cNvPr id="29" name="Text 27"/>
          <p:cNvSpPr txBox="1"/>
          <p:nvPr/>
        </p:nvSpPr>
        <p:spPr>
          <a:xfrm>
            <a:off x="402336" y="425196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Columns: Department, Patients Treated, Avg Stay (Days), Revenue (USD), Operating Cost (USD), Satisfaction Score, Staff Count, Bed Count</a:t>
            </a:r>
            <a:endParaRPr lang="en-US" sz="850" dirty="0"/>
          </a:p>
        </p:txBody>
      </p:sp>
      <p:sp>
        <p:nvSpPr>
          <p:cNvPr id="30" name="Text 28"/>
          <p:cNvSpPr txBox="1"/>
          <p:nvPr/>
        </p:nvSpPr>
        <p:spPr>
          <a:xfrm>
            <a:off x="402336" y="451713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departments + hospital-wide summary · Total Revenue $76.9M · 30,180 patients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9FAF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64E3B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74320" y="45720"/>
            <a:ext cx="8229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💡  Key Design Decisions &amp; Architecture Pattern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8503920" y="45720"/>
            <a:ext cx="594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7F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19/20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D1FAE5"/>
          </a:solidFill>
          <a:ln/>
        </p:spPr>
      </p:sp>
      <p:sp>
        <p:nvSpPr>
          <p:cNvPr id="7" name="Shape 5"/>
          <p:cNvSpPr/>
          <p:nvPr/>
        </p:nvSpPr>
        <p:spPr>
          <a:xfrm>
            <a:off x="274320" y="685800"/>
            <a:ext cx="4251960" cy="1307592"/>
          </a:xfrm>
          <a:prstGeom prst="roundRect">
            <a:avLst>
              <a:gd name="adj" fmla="val 5594"/>
            </a:avLst>
          </a:prstGeom>
          <a:solidFill>
            <a:srgbClr val="EFF6FF"/>
          </a:solidFill>
          <a:ln w="16510">
            <a:solidFill>
              <a:srgbClr val="1D4ED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02336" y="77724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Router/Dispatcher Multi-Agent Pattern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402336" y="1069848"/>
            <a:ext cx="4023360" cy="8229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central classify_intent node routes to specialist agents. Clean separation of concerns: router knows nothing about documents; agents know nothing about routing.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4709160" y="685800"/>
            <a:ext cx="4251960" cy="1307592"/>
          </a:xfrm>
          <a:prstGeom prst="roundRect">
            <a:avLst>
              <a:gd name="adj" fmla="val 5594"/>
            </a:avLst>
          </a:prstGeom>
          <a:solidFill>
            <a:srgbClr val="FFFBEB"/>
          </a:solidFill>
          <a:ln w="1651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837176" y="77724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Keyword Retrieval (not RAG)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837176" y="1069848"/>
            <a:ext cx="4023360" cy="8229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Documents are matched by term-count scoring on full text, not vector embeddings. Simpler, no embedding API costs, works well for structured CSVs. faiss-cpu is in requirements but unused.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274320" y="2075688"/>
            <a:ext cx="4251960" cy="1307592"/>
          </a:xfrm>
          <a:prstGeom prst="roundRect">
            <a:avLst>
              <a:gd name="adj" fmla="val 5594"/>
            </a:avLst>
          </a:prstGeom>
          <a:solidFill>
            <a:srgbClr val="F5F3FF"/>
          </a:solidFill>
          <a:ln w="16510">
            <a:solidFill>
              <a:srgbClr val="7C3AED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02336" y="2167128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RunnableConfig for LLM/Tool Injection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02336" y="2459736"/>
            <a:ext cx="4023360" cy="8229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and tools are NOT stored globally. They are passed through RunnableConfig per-invocation. This keeps nodes testable and decoupled from how the LLM is configured.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4709160" y="2075688"/>
            <a:ext cx="4251960" cy="1307592"/>
          </a:xfrm>
          <a:prstGeom prst="roundRect">
            <a:avLst>
              <a:gd name="adj" fmla="val 5594"/>
            </a:avLst>
          </a:prstGeom>
          <a:solidFill>
            <a:srgbClr val="D1FAE5"/>
          </a:solidFill>
          <a:ln w="16510">
            <a:solidFill>
              <a:srgbClr val="10B981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837176" y="2167128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InMemorySaver for State Persistence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4837176" y="2459736"/>
            <a:ext cx="4023360" cy="8229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AgentState is checkpointed after every node. Keyed by thread_id, so the same session resumes correctly across multiple .invoke() calls within a session.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274320" y="3465576"/>
            <a:ext cx="4251960" cy="1307592"/>
          </a:xfrm>
          <a:prstGeom prst="roundRect">
            <a:avLst>
              <a:gd name="adj" fmla="val 5594"/>
            </a:avLst>
          </a:prstGeom>
          <a:solidFill>
            <a:srgbClr val="CFFAFE"/>
          </a:solidFill>
          <a:ln w="16510">
            <a:solidFill>
              <a:srgbClr val="0891B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02336" y="3557016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Pydantic v2 Structured Outputs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402336" y="3849624"/>
            <a:ext cx="4023360" cy="8229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agent responses are typed Pydantic models. Prevents hallucinated or missing fields. with_structured_output() forces the LLM to conform to the schema.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4709160" y="3465576"/>
            <a:ext cx="4251960" cy="1307592"/>
          </a:xfrm>
          <a:prstGeom prst="roundRect">
            <a:avLst>
              <a:gd name="adj" fmla="val 5594"/>
            </a:avLst>
          </a:prstGeom>
          <a:solidFill>
            <a:srgbClr val="FFF1F2"/>
          </a:solidFill>
          <a:ln w="16510">
            <a:solidFill>
              <a:srgbClr val="DC2626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837176" y="3557016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Per-Tab Assistant Isolation in Streamlit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4837176" y="3849624"/>
            <a:ext cx="4023360" cy="8229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tab (Summarization, Calculator) owns a separate DocumentAssistant instance with its own thread_id. The retriever is a module-level singleton shared across all tabs.</a:t>
            </a:r>
            <a:endParaRPr lang="en-US" sz="9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64E3B"/>
          </a:solidFill>
          <a:ln/>
        </p:spPr>
      </p:sp>
      <p:sp>
        <p:nvSpPr>
          <p:cNvPr id="3" name="Shape 1"/>
          <p:cNvSpPr/>
          <p:nvPr/>
        </p:nvSpPr>
        <p:spPr>
          <a:xfrm>
            <a:off x="6858000" y="-457200"/>
            <a:ext cx="3200400" cy="3200400"/>
          </a:xfrm>
          <a:prstGeom prst="ellipse">
            <a:avLst/>
          </a:prstGeom>
          <a:solidFill>
            <a:srgbClr val="065F46"/>
          </a:solidFill>
          <a:ln w="12700">
            <a:solidFill>
              <a:srgbClr val="065F4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-457200" y="3200400"/>
            <a:ext cx="2286000" cy="2286000"/>
          </a:xfrm>
          <a:prstGeom prst="ellipse">
            <a:avLst/>
          </a:prstGeom>
          <a:solidFill>
            <a:srgbClr val="047857"/>
          </a:solidFill>
          <a:ln w="12700">
            <a:solidFill>
              <a:srgbClr val="04785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50292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Document Assistant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29844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7F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covered: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664208"/>
            <a:ext cx="8046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Router/Dispatcher multi-agent pattern via LangGraph StateGraph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057400"/>
            <a:ext cx="8046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7F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11-field AgentState with add_messages and operator.add reducers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2450592"/>
            <a:ext cx="8046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5 nodes: classify_intent → [qa | summarize | calculate] → update_memory → END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2843784"/>
            <a:ext cx="8046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7F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2 tools: calculator (safe eval) + document_reader (keyword retrieval)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3236976"/>
            <a:ext cx="8046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4 Pydantic output schemas with LLM structured output enforcement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3630168"/>
            <a:ext cx="8046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7F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Streamlit UI with 3 tabs, hospital doodle, light-green theme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4023360"/>
            <a:ext cx="8046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500-row Finance + Hospital CSV sample datasets for testing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4416552"/>
            <a:ext cx="8046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7F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InMemorySaver for persistent, thread-keyed conversation state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48640" y="4645152"/>
            <a:ext cx="7498080" cy="310896"/>
          </a:xfrm>
          <a:prstGeom prst="roundRect">
            <a:avLst>
              <a:gd name="adj" fmla="val 14706"/>
            </a:avLst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94360" y="4654296"/>
            <a:ext cx="7406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GitHub: github.com/alwinalexanderjohn/agenticaiaccenture  ·  Stack: LangGraph · LangChain · OpenAI GPT-4o · Streamlit · Python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2026-10-04T05:14:45Z</dcterms:created>
  <dcterms:modified xsi:type="dcterms:W3CDTF">2026-10-04T05:14:45Z</dcterms:modified>
</cp:coreProperties>
</file>