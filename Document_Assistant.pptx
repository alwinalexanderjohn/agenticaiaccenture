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0" y="-914400"/>
            <a:ext cx="4114800" cy="4114800"/>
          </a:xfrm>
          <a:prstGeom prst="ellipse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3566160"/>
            <a:ext cx="2011680" cy="2011680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914400" y="3291840"/>
            <a:ext cx="2560320" cy="2560320"/>
          </a:xfrm>
          <a:prstGeom prst="ellipse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713232"/>
            <a:ext cx="118872" cy="38404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84632" y="841248"/>
            <a:ext cx="393192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005840"/>
            <a:ext cx="7772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 Assistant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92024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Multi-Agent System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450592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 ·  LangChain  ·  OpenAI GPT-4o  ·  Streamlit  ·  Python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907792"/>
            <a:ext cx="3474720" cy="2743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0632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4D6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· Code Walkthrough · Agents &amp; State · Tools · Outputs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462272"/>
            <a:ext cx="2651760" cy="420624"/>
          </a:xfrm>
          <a:prstGeom prst="roundRect">
            <a:avLst>
              <a:gd name="adj" fmla="val 1087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46227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🏥  Document Intelligence Platform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📋  Agenda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749808"/>
            <a:ext cx="4206240" cy="1143000"/>
          </a:xfrm>
          <a:prstGeom prst="roundRect">
            <a:avLst>
              <a:gd name="adj" fmla="val 6400"/>
            </a:avLst>
          </a:prstGeom>
          <a:solidFill>
            <a:srgbClr val="D1FAE5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" y="1097280"/>
            <a:ext cx="438912" cy="43891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" y="10972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877824"/>
            <a:ext cx="3337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Overview &amp; Architecture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749808"/>
            <a:ext cx="4206240" cy="1143000"/>
          </a:xfrm>
          <a:prstGeom prst="roundRect">
            <a:avLst>
              <a:gd name="adj" fmla="val 6400"/>
            </a:avLst>
          </a:prstGeom>
          <a:solidFill>
            <a:srgbClr val="EFF6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19472" y="1097280"/>
            <a:ext cx="438912" cy="438912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919472" y="10972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0" y="877824"/>
            <a:ext cx="3337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File Structure &amp; Code Walkthrough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0040" y="2048256"/>
            <a:ext cx="4206240" cy="1143000"/>
          </a:xfrm>
          <a:prstGeom prst="roundRect">
            <a:avLst>
              <a:gd name="adj" fmla="val 6400"/>
            </a:avLst>
          </a:prstGeom>
          <a:solidFill>
            <a:srgbClr val="F5F3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4632" y="2395728"/>
            <a:ext cx="438912" cy="43891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4632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176272"/>
            <a:ext cx="3337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AgentState — 11 Fields &amp; Reducers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754880" y="2048256"/>
            <a:ext cx="4206240" cy="1143000"/>
          </a:xfrm>
          <a:prstGeom prst="roundRect">
            <a:avLst>
              <a:gd name="adj" fmla="val 6400"/>
            </a:avLst>
          </a:prstGeom>
          <a:solidFill>
            <a:srgbClr val="CFFAFE"/>
          </a:solidFill>
          <a:ln w="19050">
            <a:solidFill>
              <a:srgbClr val="0891B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19472" y="2395728"/>
            <a:ext cx="438912" cy="438912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919472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0" y="2176272"/>
            <a:ext cx="3337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Nodes (5) &amp; Workflow Graph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20040" y="3346704"/>
            <a:ext cx="4206240" cy="1143000"/>
          </a:xfrm>
          <a:prstGeom prst="roundRect">
            <a:avLst>
              <a:gd name="adj" fmla="val 6400"/>
            </a:avLst>
          </a:prstGeom>
          <a:solidFill>
            <a:srgbClr val="FFFBEB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4632" y="3694176"/>
            <a:ext cx="438912" cy="43891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4632" y="36941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474720"/>
            <a:ext cx="3337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Calculator &amp; Document Reader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754880" y="3346704"/>
            <a:ext cx="4206240" cy="1143000"/>
          </a:xfrm>
          <a:prstGeom prst="roundRect">
            <a:avLst>
              <a:gd name="adj" fmla="val 6400"/>
            </a:avLst>
          </a:prstGeom>
          <a:solidFill>
            <a:srgbClr val="FFF1F2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19472" y="3694176"/>
            <a:ext cx="438912" cy="43891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919472" y="36941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0" y="3474720"/>
            <a:ext cx="3337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Execution &amp; Output Schemas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🏥  System Overview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685800"/>
            <a:ext cx="4114800" cy="4224528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" y="7315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84048" y="1170432"/>
            <a:ext cx="3886200" cy="40233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 Upload PDF, CSV, TXT, Markdown documents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84048" y="1618488"/>
            <a:ext cx="3886200" cy="40233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Automatically classify user intent (Q&amp;A / Summarize / Calculate)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84048" y="2066544"/>
            <a:ext cx="3886200" cy="40233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Route to the correct specialist AI agent via LangGraph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84048" y="2514600"/>
            <a:ext cx="3886200" cy="40233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Retrieve relevant content using keyword search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84048" y="2962656"/>
            <a:ext cx="3886200" cy="40233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🧮  Perform safe arithmetic on document data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" y="3410712"/>
            <a:ext cx="3886200" cy="40233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💾  Persist conversation state with InMemorySaver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84048" y="3858768"/>
            <a:ext cx="3886200" cy="40233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Serve via Streamlit with 3 interactive tabs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685800"/>
            <a:ext cx="4160520" cy="4224528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63440" y="731520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Specialist Agents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846320" y="1170432"/>
            <a:ext cx="3794760" cy="713232"/>
          </a:xfrm>
          <a:prstGeom prst="roundRect">
            <a:avLst>
              <a:gd name="adj" fmla="val 8974"/>
            </a:avLst>
          </a:prstGeom>
          <a:solidFill>
            <a:srgbClr val="EFF6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956048" y="12070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 Agent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956048" y="1435608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factual questions from docs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Tool: document_reader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6320" y="1975104"/>
            <a:ext cx="3794760" cy="713232"/>
          </a:xfrm>
          <a:prstGeom prst="roundRect">
            <a:avLst>
              <a:gd name="adj" fmla="val 8974"/>
            </a:avLst>
          </a:prstGeom>
          <a:solidFill>
            <a:srgbClr val="F5F3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956048" y="20116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Summarization Agent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956048" y="2240280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summaries &amp; key points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Tool: document_reader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46320" y="2779776"/>
            <a:ext cx="3794760" cy="713232"/>
          </a:xfrm>
          <a:prstGeom prst="roundRect">
            <a:avLst>
              <a:gd name="adj" fmla="val 8974"/>
            </a:avLst>
          </a:prstGeom>
          <a:solidFill>
            <a:srgbClr val="FFF1F2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956048" y="28163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 Agent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956048" y="30449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Retrieves data &amp; runs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document_reader + calculator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846320" y="3611880"/>
            <a:ext cx="914400" cy="118872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46320" y="3657600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4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800" dirty="0"/>
          </a:p>
        </p:txBody>
      </p:sp>
      <p:sp>
        <p:nvSpPr>
          <p:cNvPr id="29" name="Text 27"/>
          <p:cNvSpPr txBox="1"/>
          <p:nvPr/>
        </p:nvSpPr>
        <p:spPr>
          <a:xfrm>
            <a:off x="4846320" y="4151376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852160" y="3611880"/>
            <a:ext cx="914400" cy="118872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852160" y="3657600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4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800" dirty="0"/>
          </a:p>
        </p:txBody>
      </p:sp>
      <p:sp>
        <p:nvSpPr>
          <p:cNvPr id="32" name="Text 30"/>
          <p:cNvSpPr txBox="1"/>
          <p:nvPr/>
        </p:nvSpPr>
        <p:spPr>
          <a:xfrm>
            <a:off x="5852160" y="4151376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858000" y="3611880"/>
            <a:ext cx="914400" cy="118872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858000" y="3657600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4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35" name="Text 33"/>
          <p:cNvSpPr txBox="1"/>
          <p:nvPr/>
        </p:nvSpPr>
        <p:spPr>
          <a:xfrm>
            <a:off x="6858000" y="4151376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863840" y="3611880"/>
            <a:ext cx="914400" cy="118872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863840" y="3657600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4E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800" dirty="0"/>
          </a:p>
        </p:txBody>
      </p:sp>
      <p:sp>
        <p:nvSpPr>
          <p:cNvPr id="38" name="Text 36"/>
          <p:cNvSpPr txBox="1"/>
          <p:nvPr/>
        </p:nvSpPr>
        <p:spPr>
          <a:xfrm>
            <a:off x="7863840" y="4151376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🔧  Full Architecture — Request to Response Flow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749808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D1FAE5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" y="749808"/>
            <a:ext cx="137160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664208" y="987552"/>
            <a:ext cx="667512" cy="0"/>
          </a:xfrm>
          <a:prstGeom prst="line">
            <a:avLst/>
          </a:prstGeom>
          <a:noFill/>
          <a:ln w="17780">
            <a:solidFill>
              <a:srgbClr val="10B981"/>
            </a:solidFill>
            <a:prstDash val="solid"/>
            <a:tailEnd type="arrow"/>
          </a:ln>
        </p:spPr>
      </p:sp>
      <p:sp>
        <p:nvSpPr>
          <p:cNvPr id="10" name="Shape 8"/>
          <p:cNvSpPr/>
          <p:nvPr/>
        </p:nvSpPr>
        <p:spPr>
          <a:xfrm>
            <a:off x="2331720" y="749808"/>
            <a:ext cx="1920240" cy="475488"/>
          </a:xfrm>
          <a:prstGeom prst="roundRect">
            <a:avLst>
              <a:gd name="adj" fmla="val 11538"/>
            </a:avLst>
          </a:prstGeom>
          <a:solidFill>
            <a:srgbClr val="D1FAE5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331720" y="749808"/>
            <a:ext cx="192024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UI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 Tabs)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70248" y="987552"/>
            <a:ext cx="621792" cy="0"/>
          </a:xfrm>
          <a:prstGeom prst="line">
            <a:avLst/>
          </a:prstGeom>
          <a:noFill/>
          <a:ln w="17780">
            <a:solidFill>
              <a:srgbClr val="10B981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>
            <a:off x="4892040" y="749808"/>
            <a:ext cx="2011680" cy="475488"/>
          </a:xfrm>
          <a:prstGeom prst="roundRect">
            <a:avLst>
              <a:gd name="adj" fmla="val 11538"/>
            </a:avLst>
          </a:prstGeom>
          <a:solidFill>
            <a:srgbClr val="D1FAE5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92040" y="749808"/>
            <a:ext cx="201168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DocumentAssistant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.process_message()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22008" y="987552"/>
            <a:ext cx="576072" cy="0"/>
          </a:xfrm>
          <a:prstGeom prst="line">
            <a:avLst/>
          </a:prstGeom>
          <a:noFill/>
          <a:ln w="17780">
            <a:solidFill>
              <a:srgbClr val="10B981"/>
            </a:solidFill>
            <a:prstDash val="solid"/>
            <a:tailEnd type="arrow"/>
          </a:ln>
        </p:spPr>
      </p:sp>
      <p:sp>
        <p:nvSpPr>
          <p:cNvPr id="16" name="Shape 14"/>
          <p:cNvSpPr/>
          <p:nvPr/>
        </p:nvSpPr>
        <p:spPr>
          <a:xfrm>
            <a:off x="7498080" y="749808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DBEAFE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98080" y="749808"/>
            <a:ext cx="137160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.invoke()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1371600"/>
            <a:ext cx="8595360" cy="3401568"/>
          </a:xfrm>
          <a:prstGeom prst="roundRect">
            <a:avLst>
              <a:gd name="adj" fmla="val 2688"/>
            </a:avLst>
          </a:prstGeom>
          <a:solidFill>
            <a:srgbClr val="F0FDF4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84048" y="140817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 StateGraph  (agent.py)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337560" y="1719072"/>
            <a:ext cx="2468880" cy="502920"/>
          </a:xfrm>
          <a:prstGeom prst="roundRect">
            <a:avLst>
              <a:gd name="adj" fmla="val 10909"/>
            </a:avLst>
          </a:prstGeom>
          <a:solidFill>
            <a:srgbClr val="DBEAFE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37560" y="1719072"/>
            <a:ext cx="246888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classify_intent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(Router Node)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337560" y="2221992"/>
            <a:ext cx="-2194560" cy="658368"/>
          </a:xfrm>
          <a:prstGeom prst="line">
            <a:avLst/>
          </a:prstGeom>
          <a:noFill/>
          <a:ln w="15240">
            <a:solidFill>
              <a:srgbClr val="1D4ED8"/>
            </a:solidFill>
            <a:prstDash val="solid"/>
            <a:tailEnd type="arrow"/>
          </a:ln>
        </p:spPr>
      </p:sp>
      <p:sp>
        <p:nvSpPr>
          <p:cNvPr id="23" name="Shape 21"/>
          <p:cNvSpPr/>
          <p:nvPr/>
        </p:nvSpPr>
        <p:spPr>
          <a:xfrm>
            <a:off x="4572000" y="2221992"/>
            <a:ext cx="0" cy="566928"/>
          </a:xfrm>
          <a:prstGeom prst="line">
            <a:avLst/>
          </a:prstGeom>
          <a:noFill/>
          <a:ln w="17780">
            <a:solidFill>
              <a:srgbClr val="7C3AED"/>
            </a:solidFill>
            <a:prstDash val="solid"/>
            <a:tailEnd type="arrow"/>
          </a:ln>
        </p:spPr>
      </p:sp>
      <p:sp>
        <p:nvSpPr>
          <p:cNvPr id="24" name="Shape 22"/>
          <p:cNvSpPr/>
          <p:nvPr/>
        </p:nvSpPr>
        <p:spPr>
          <a:xfrm>
            <a:off x="5806440" y="2221992"/>
            <a:ext cx="1828800" cy="658368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411480" y="2788920"/>
            <a:ext cx="2011680" cy="530352"/>
          </a:xfrm>
          <a:prstGeom prst="roundRect">
            <a:avLst>
              <a:gd name="adj" fmla="val 10345"/>
            </a:avLst>
          </a:prstGeom>
          <a:solidFill>
            <a:srgbClr val="EFF6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11480" y="2788920"/>
            <a:ext cx="2011680" cy="5303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qa_agent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(Q&amp;A)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566160" y="2788920"/>
            <a:ext cx="2011680" cy="530352"/>
          </a:xfrm>
          <a:prstGeom prst="roundRect">
            <a:avLst>
              <a:gd name="adj" fmla="val 10345"/>
            </a:avLst>
          </a:prstGeom>
          <a:solidFill>
            <a:srgbClr val="F5F3FF"/>
          </a:solidFill>
          <a:ln w="15240">
            <a:solidFill>
              <a:srgbClr val="7C3AE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566160" y="2788920"/>
            <a:ext cx="2011680" cy="5303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summarization_agent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(Summary)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720840" y="2788920"/>
            <a:ext cx="1828800" cy="530352"/>
          </a:xfrm>
          <a:prstGeom prst="roundRect">
            <a:avLst>
              <a:gd name="adj" fmla="val 10345"/>
            </a:avLst>
          </a:prstGeom>
          <a:solidFill>
            <a:srgbClr val="FFF1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20840" y="2788920"/>
            <a:ext cx="1828800" cy="5303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calculation_agent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(Calc)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417320" y="3319272"/>
            <a:ext cx="2331720" cy="502920"/>
          </a:xfrm>
          <a:prstGeom prst="line">
            <a:avLst/>
          </a:prstGeom>
          <a:noFill/>
          <a:ln w="13970">
            <a:solidFill>
              <a:srgbClr val="374151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572000" y="3319272"/>
            <a:ext cx="0" cy="521208"/>
          </a:xfrm>
          <a:prstGeom prst="line">
            <a:avLst/>
          </a:prstGeom>
          <a:noFill/>
          <a:ln w="17780">
            <a:solidFill>
              <a:srgbClr val="10B981"/>
            </a:solidFill>
            <a:prstDash val="solid"/>
            <a:tailEnd type="arrow"/>
          </a:ln>
        </p:spPr>
      </p:sp>
      <p:sp>
        <p:nvSpPr>
          <p:cNvPr id="33" name="Shape 31"/>
          <p:cNvSpPr/>
          <p:nvPr/>
        </p:nvSpPr>
        <p:spPr>
          <a:xfrm>
            <a:off x="7635240" y="3319272"/>
            <a:ext cx="-2011680" cy="502920"/>
          </a:xfrm>
          <a:prstGeom prst="line">
            <a:avLst/>
          </a:prstGeom>
          <a:noFill/>
          <a:ln w="13970">
            <a:solidFill>
              <a:srgbClr val="374151"/>
            </a:solidFill>
            <a:prstDash val="solid"/>
            <a:tailEnd type="arrow"/>
          </a:ln>
        </p:spPr>
      </p:sp>
      <p:sp>
        <p:nvSpPr>
          <p:cNvPr id="34" name="Shape 32"/>
          <p:cNvSpPr/>
          <p:nvPr/>
        </p:nvSpPr>
        <p:spPr>
          <a:xfrm>
            <a:off x="3337560" y="3822192"/>
            <a:ext cx="2468880" cy="502920"/>
          </a:xfrm>
          <a:prstGeom prst="roundRect">
            <a:avLst>
              <a:gd name="adj" fmla="val 10909"/>
            </a:avLst>
          </a:prstGeom>
          <a:solidFill>
            <a:srgbClr val="D1FAE5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37560" y="3822192"/>
            <a:ext cx="246888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update_memory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(Memory &amp; Summary)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824728" y="4073652"/>
            <a:ext cx="896112" cy="0"/>
          </a:xfrm>
          <a:prstGeom prst="line">
            <a:avLst/>
          </a:prstGeom>
          <a:noFill/>
          <a:ln w="17780">
            <a:solidFill>
              <a:srgbClr val="10B981"/>
            </a:solidFill>
            <a:prstDash val="solid"/>
            <a:tailEnd type="arrow"/>
          </a:ln>
        </p:spPr>
      </p:sp>
      <p:sp>
        <p:nvSpPr>
          <p:cNvPr id="37" name="Shape 35"/>
          <p:cNvSpPr/>
          <p:nvPr/>
        </p:nvSpPr>
        <p:spPr>
          <a:xfrm>
            <a:off x="6720840" y="3877056"/>
            <a:ext cx="457200" cy="402336"/>
          </a:xfrm>
          <a:prstGeom prst="ellipse">
            <a:avLst/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720840" y="387705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7269480" y="1463040"/>
            <a:ext cx="1508760" cy="2267712"/>
          </a:xfrm>
          <a:prstGeom prst="roundRect">
            <a:avLst>
              <a:gd name="adj" fmla="val 4242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269480" y="150876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7360920" y="1828800"/>
            <a:ext cx="1325880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document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_reader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7360920" y="2487168"/>
            <a:ext cx="1325880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🧮 calculator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320040" y="4773168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InMemorySaver — checkpoints AgentState after each node, keyed by thread_id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📁  Python File Structure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713232"/>
            <a:ext cx="8595360" cy="493776"/>
          </a:xfrm>
          <a:prstGeom prst="roundRect">
            <a:avLst>
              <a:gd name="adj" fmla="val 11111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4048" y="74980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src/schemas.py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212848" y="822960"/>
            <a:ext cx="18288" cy="2743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04288" y="749808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v2 models: UserIntent, AnswerResponse, SummarizationResponse, CalculationResponse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1248156"/>
            <a:ext cx="8595360" cy="493776"/>
          </a:xfrm>
          <a:prstGeom prst="roundRect">
            <a:avLst>
              <a:gd name="adj" fmla="val 11111"/>
            </a:avLst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4048" y="128473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src/agent.py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212848" y="1357884"/>
            <a:ext cx="18288" cy="2743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304288" y="1284732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LangGraph workflow: AgentState TypedDict, 5 node functions, StateGraph, InMemorySaver compile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1783080"/>
            <a:ext cx="8595360" cy="493776"/>
          </a:xfrm>
          <a:prstGeom prst="roundRect">
            <a:avLst>
              <a:gd name="adj" fmla="val 11111"/>
            </a:avLst>
          </a:prstGeom>
          <a:solidFill>
            <a:srgbClr val="CFFAFE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84048" y="1819656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src/retrieval.py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212848" y="1892808"/>
            <a:ext cx="18288" cy="2743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04288" y="1819656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DocumentRetriever class: keyword search, exact-ID lookup, load_document() for PDF/CSV/TXT/MD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74320" y="2318004"/>
            <a:ext cx="8595360" cy="493776"/>
          </a:xfrm>
          <a:prstGeom prst="roundRect">
            <a:avLst>
              <a:gd name="adj" fmla="val 11111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84048" y="235458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src/tools.py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12848" y="2427732"/>
            <a:ext cx="18288" cy="2743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304288" y="2354580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calculator tool (safe eval, regex-guarded) + document_reader tool (ID lookup + keyword fallback)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74320" y="2852928"/>
            <a:ext cx="8595360" cy="493776"/>
          </a:xfrm>
          <a:prstGeom prst="roundRect">
            <a:avLst>
              <a:gd name="adj" fmla="val 11111"/>
            </a:avLst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84048" y="2889504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src/prompts.py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212848" y="2962656"/>
            <a:ext cx="18288" cy="2743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304288" y="2889504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QA, Summarization, Calculation system prompts + get_chat_prompt_template() + intent classifier prompt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4320" y="3387852"/>
            <a:ext cx="8595360" cy="493776"/>
          </a:xfrm>
          <a:prstGeom prst="roundRect">
            <a:avLst>
              <a:gd name="adj" fmla="val 11111"/>
            </a:avLst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84048" y="342442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src/assistant.py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12848" y="3497580"/>
            <a:ext cx="18288" cy="2743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304288" y="3424428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DocumentAssistant class: start_session(), process_message(), wires LLM + tools into RunnableConfig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74320" y="3922776"/>
            <a:ext cx="8595360" cy="493776"/>
          </a:xfrm>
          <a:prstGeom prst="roundRect">
            <a:avLst>
              <a:gd name="adj" fmla="val 11111"/>
            </a:avLst>
          </a:prstGeom>
          <a:solidFill>
            <a:srgbClr val="E8F5E9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84048" y="395935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streamlit_app.py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212848" y="4032504"/>
            <a:ext cx="18288" cy="274320"/>
          </a:xfrm>
          <a:prstGeom prst="rect">
            <a:avLst/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304288" y="3959352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3-tab Streamlit UI: Upload, Summarization, Calculator. Hospital doodle, light-green theme, per-tab sessions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74320" y="4457700"/>
            <a:ext cx="8595360" cy="493776"/>
          </a:xfrm>
          <a:prstGeom prst="roundRect">
            <a:avLst>
              <a:gd name="adj" fmla="val 11111"/>
            </a:avLst>
          </a:prstGeom>
          <a:solidFill>
            <a:srgbClr val="F9FAFB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84048" y="4494276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samples/*.csv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212848" y="4567428"/>
            <a:ext cx="18288" cy="27432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2304288" y="4494276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sample datasets: finance (500 rows), hospital (500 rows), Q3 summary, dept stats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📐  src/schemas.py — Pydantic v2 Output Models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74320" y="65836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structured outputs use Pydantic BaseModel. LangGraph agents call llm.with_structured_output(Model) to produce these.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" y="1024128"/>
            <a:ext cx="4251960" cy="18288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1480" y="109728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UserIntent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11480" y="1335024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by classify_intent node. Drives routing.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11480" y="1527048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intent_type: str  — "qa" | "summarization" | "calculation" | "unknown"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11480" y="1764792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confidence: float  — 0.0 to 1.0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11480" y="2002536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reasoning: str  — why this intent was chosen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09160" y="1024128"/>
            <a:ext cx="4251960" cy="1828800"/>
          </a:xfrm>
          <a:prstGeom prst="roundRect">
            <a:avLst>
              <a:gd name="adj" fmla="val 4000"/>
            </a:avLst>
          </a:prstGeom>
          <a:solidFill>
            <a:srgbClr val="F5F3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46320" y="109728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AnswerResponse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335024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by qa_agent node.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1527048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question: str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1764792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answer: str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846320" y="2002536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sources: List[str]  — doc IDs used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846320" y="2240280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confidence: float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846320" y="2478024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timestamp: datetime  (auto)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4320" y="2962656"/>
            <a:ext cx="4251960" cy="1828800"/>
          </a:xfrm>
          <a:prstGeom prst="roundRect">
            <a:avLst>
              <a:gd name="adj" fmla="val 4000"/>
            </a:avLst>
          </a:prstGeom>
          <a:solidFill>
            <a:srgbClr val="FFFBEB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11480" y="3035808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SummarizationResponse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11480" y="3273552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by summarization_agent node.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411480" y="3465576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summary: str  — paragraph summary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411480" y="3703320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key_points: List[str]  — 3–7 bullet points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411480" y="3941064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sources: List[str]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411480" y="4178808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timestamp: datetime  (auto)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09160" y="2962656"/>
            <a:ext cx="4251960" cy="1828800"/>
          </a:xfrm>
          <a:prstGeom prst="roundRect">
            <a:avLst>
              <a:gd name="adj" fmla="val 4000"/>
            </a:avLst>
          </a:prstGeom>
          <a:solidFill>
            <a:srgbClr val="FFF1F2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46320" y="3035808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CalculationResponse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846320" y="3273552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by calculation_agent node.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4846320" y="3465576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question: str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4846320" y="3703320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result: str  — numeric result with units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4846320" y="3941064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expression: str  — math formula used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4846320" y="4178808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sources: List[str]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4846320" y="4416552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timestamp: datetime  (auto)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⚙️  src/agent.py — Core LangGraph Workflow (Most Important File)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704088"/>
            <a:ext cx="36576" cy="6583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2336" y="731520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AgentState (TypedDict)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02336" y="95097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11-field shared state with add_messages and operator.add reducers.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4320" y="1540764"/>
            <a:ext cx="36576" cy="6583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02336" y="1568196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Node Functions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" y="178765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classify_intent, qa_agent, summarization_agent, calculation_agent, update_memory. Each typed with RunnableConfig for config injection.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74320" y="2377440"/>
            <a:ext cx="36576" cy="6583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02336" y="2404872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_run_tool_loop()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02336" y="2624328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Helper: bind_tools → invoke → append ToolMessages → repeat up to max_iter. Returns messages, tools_used, context_snippets.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4320" y="3214116"/>
            <a:ext cx="36576" cy="65836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02336" y="324154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_route_to_agent()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02336" y="346100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 function: reads state["next_step"] and returns the target node name.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" y="4050792"/>
            <a:ext cx="36576" cy="6583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02336" y="4078224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create_workflow()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02336" y="429768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StateGraph, adds all nodes, sets entry point, wires conditional + fixed edges, compiles with InMemorySaver().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74320" y="4809744"/>
            <a:ext cx="8595360" cy="201168"/>
          </a:xfrm>
          <a:prstGeom prst="roundRect">
            <a:avLst>
              <a:gd name="adj" fmla="val 18182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20040" y="4818888"/>
            <a:ext cx="8503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Critical: All node functions must type config as RunnableConfig (not dict) — LangGraph only injects the config when the type annotation is correct.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📚  src/retrieval.py — Document Store &amp; Retrieval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685800"/>
            <a:ext cx="4114800" cy="420624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" y="7315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DocumentRetriever Methods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02336" y="115214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get_document(doc_id)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02336" y="1371600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ID lookup. Returns dict with content, title, type or None.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2336" y="2011680"/>
            <a:ext cx="3749040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02336" y="206654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search_documents(query, top_k=2)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02336" y="2286000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scoring: counts query-term occurrences in content+title. Falls back to first 2 docs if no match.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2336" y="2926080"/>
            <a:ext cx="3749040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2336" y="298094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load_document(file_path)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02336" y="3200400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.pdf, .txt, .md, .csv. Builds doc ID from filename stem. Uses pypdf for PDF extraction page-by-page.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02336" y="3840480"/>
            <a:ext cx="3749040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02336" y="389534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list_documents()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02336" y="4114800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all doc IDs + titles for UI display.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63440" y="685800"/>
            <a:ext cx="4160520" cy="420624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63440" y="73152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Documents (4)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800600" y="1143000"/>
            <a:ext cx="3886200" cy="621792"/>
          </a:xfrm>
          <a:prstGeom prst="roundRect">
            <a:avLst>
              <a:gd name="adj" fmla="val 8824"/>
            </a:avLst>
          </a:prstGeom>
          <a:solidFill>
            <a:srgbClr val="CFFAFE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19472" y="11887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doc_financial_q1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919472" y="140817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2026 Financial Report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800600" y="1892808"/>
            <a:ext cx="3886200" cy="621792"/>
          </a:xfrm>
          <a:prstGeom prst="roundRect">
            <a:avLst>
              <a:gd name="adj" fmla="val 8824"/>
            </a:avLst>
          </a:prstGeom>
          <a:solidFill>
            <a:srgbClr val="CFFAFE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919472" y="19385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doc_financial_q2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919472" y="215798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2026 Financial Report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800600" y="2642616"/>
            <a:ext cx="3886200" cy="621792"/>
          </a:xfrm>
          <a:prstGeom prst="roundRect">
            <a:avLst>
              <a:gd name="adj" fmla="val 8824"/>
            </a:avLst>
          </a:prstGeom>
          <a:solidFill>
            <a:srgbClr val="CFFAFE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919472" y="268833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doc_healthcare_stats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4919472" y="29077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Statistics 2026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800600" y="3392424"/>
            <a:ext cx="3886200" cy="621792"/>
          </a:xfrm>
          <a:prstGeom prst="roundRect">
            <a:avLst>
              <a:gd name="adj" fmla="val 8824"/>
            </a:avLst>
          </a:prstGeom>
          <a:solidFill>
            <a:srgbClr val="CFFAFE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919472" y="343814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doc_healthcare_outcomes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919472" y="365760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Outcomes Report 2026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754880" y="4160520"/>
            <a:ext cx="3931920" cy="621792"/>
          </a:xfrm>
          <a:prstGeom prst="roundRect">
            <a:avLst>
              <a:gd name="adj" fmla="val 8824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846320" y="4169664"/>
            <a:ext cx="3749040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Type: Keyword Matching (NOT RAG)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vector embeddings — term-count scoring on full document text.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🔨  src/tools.py — Two LangChain Tools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685800"/>
            <a:ext cx="4160520" cy="4224528"/>
          </a:xfrm>
          <a:prstGeom prst="roundRect">
            <a:avLst>
              <a:gd name="adj" fmla="val 1758"/>
            </a:avLst>
          </a:prstGeom>
          <a:solidFill>
            <a:srgbClr val="FFFBEB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" y="74980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🧮  calculator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11480" y="1243584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1243584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math expression string, e.g. "4200000 - 2800000"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11480" y="1728216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Safety: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1728216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guard — only digits and + - * / ( ) . % allowed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11480" y="2212848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Execution: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221284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eval() with empty __builtins__ (sandboxed)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11480" y="269748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269748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Formatted result string, e.g. "Result: 1,400,000"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411480" y="3182112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handling: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318211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ZeroDivisionError, unsupported chars, eval exceptions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11480" y="3666744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by: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600200" y="3666744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calculation_agent only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11480" y="4133088"/>
            <a:ext cx="38862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4151376"/>
            <a:ext cx="3749040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clean_expr = expression.replace(",","").strip()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re.match(r'^[\d\s\+\-\*\/\.\(\)\%]+$', clean_expr):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 = eval(clean_expr, {"__builtins__": {}}, {})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709160" y="685800"/>
            <a:ext cx="4160520" cy="4224528"/>
          </a:xfrm>
          <a:prstGeom prst="roundRect">
            <a:avLst>
              <a:gd name="adj" fmla="val 1758"/>
            </a:avLst>
          </a:prstGeom>
          <a:solidFill>
            <a:srgbClr val="EFF6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09160" y="74980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 document_reader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828032" y="1243584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971032" y="1243584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 ID or keyword search string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828032" y="1728216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971032" y="1728216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ID lookup via retriever.get_document(query)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4828032" y="2212848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971032" y="221284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 match → keyword search retriever.search_documents(query)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4828032" y="269748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Fallback: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971032" y="26974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first 2 docs if keywords match nothing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828032" y="3182112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971032" y="318211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Formatted string with doc ID, title, and full content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4828032" y="3666744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by: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5971032" y="3666744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 agents — qa, summarization, calculation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828032" y="4133088"/>
            <a:ext cx="38862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873752" y="4151376"/>
            <a:ext cx="3749040" cy="6217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 = retriever.get_document(query)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not doc: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results = retriever.search_documents(query)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💬  src/prompts.py  &amp;  src/assistant.py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685800"/>
            <a:ext cx="4160520" cy="4224528"/>
          </a:xfrm>
          <a:prstGeom prst="roundRect">
            <a:avLst>
              <a:gd name="adj" fmla="val 1758"/>
            </a:avLst>
          </a:prstGeom>
          <a:solidFill>
            <a:srgbClr val="F5F3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" y="749808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prompts.py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02336" y="1188720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QA_SYSTEM_PROMPT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02336" y="1408176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Instructs agent to use document_reader tool, cite doc IDs, give confidence score.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02336" y="1847088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SUMMARIZATION_SYSTEM_PROMPT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" y="2066544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Instructs agent to use document_reader, produce concise summary + 3–7 key points.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02336" y="2505456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CALCULATION_SYSTEM_PROMPT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02336" y="2724912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Enforces: "ALWAYS use calculator tool for ALL calculations — even simple ones."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02336" y="3163824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get_intent_classification_prompt()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02336" y="3383280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a PromptTemplate for the classify_intent LLM call (uses .format(), not .format_messages()).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02336" y="3822192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get_chat_prompt_template(intent)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402336" y="4041648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a ChatPromptTemplate with the correct system prompt for the given intent type.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709160" y="685800"/>
            <a:ext cx="4160520" cy="4224528"/>
          </a:xfrm>
          <a:prstGeom prst="roundRect">
            <a:avLst>
              <a:gd name="adj" fmla="val 1758"/>
            </a:avLst>
          </a:prstGeom>
          <a:solidFill>
            <a:srgbClr val="D1FAE5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09160" y="749808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assistant.py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828032" y="1188720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DocumentAssistant class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828032" y="1408176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the LLM instance (ChatOpenAI gpt-4o), the tools list, and the compiled workflow graph.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4828032" y="1847088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start_session(user_id)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828032" y="2066544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 new ChatSession with a UUID session_id. Stores it in self.current_session.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828032" y="2505456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process_message(text)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4828032" y="2724912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the initial AgentState dict, sets RunnableConfig with thread_id, llm, and tools. Calls workflow.invoke().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4828032" y="3163824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RunnableConfig payload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4828032" y="3383280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"thread_id": session_id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"llm": ChatOpenAI instance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"tools": [calculator, document_reader]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4828032" y="3822192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extraction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4828032" y="4041648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state["current_response"] after invoke(). Falls back to last AIMessage.content if no structured response.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🌐  streamlit_app.py — Streamlit Web UI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685800"/>
            <a:ext cx="2788920" cy="4224528"/>
          </a:xfrm>
          <a:prstGeom prst="roundRect">
            <a:avLst>
              <a:gd name="adj" fmla="val 2623"/>
            </a:avLst>
          </a:prstGeom>
          <a:solidFill>
            <a:srgbClr val="D1FAE5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" y="749808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📁  Upload Documents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84048" y="1188720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file_uploader() for PDF, TXT, MD, CSV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384048" y="1755648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Writes to tempfile → retriever.load_document()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84048" y="2322576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Shows success / duplicate / error feedback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84048" y="2889504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Tip chip: "Summarize {doc_id}"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84048" y="3456432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Displays all loaded documents with badges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182112" y="685800"/>
            <a:ext cx="2788920" cy="4224528"/>
          </a:xfrm>
          <a:prstGeom prst="roundRect">
            <a:avLst>
              <a:gd name="adj" fmla="val 2623"/>
            </a:avLst>
          </a:prstGeom>
          <a:solidFill>
            <a:srgbClr val="F5F3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182112" y="749808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 Summarization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1188720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Separate sum_assistant (DocumentAssistant) per tab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291840" y="1755648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Chat history stored in st.session_state.sum_chat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3291840" y="2322576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Intent hint: prepends "Please summarize: " if needed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291840" y="2889504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st.chat_input + st.chat_message for chat UI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3291840" y="3456432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🗑️ Clear chat button with st.rerun()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089904" y="685800"/>
            <a:ext cx="2788920" cy="4224528"/>
          </a:xfrm>
          <a:prstGeom prst="roundRect">
            <a:avLst>
              <a:gd name="adj" fmla="val 2623"/>
            </a:avLst>
          </a:prstGeom>
          <a:solidFill>
            <a:srgbClr val="FFF1F2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89904" y="749808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🧮  Calculator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199632" y="1188720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Separate calc_assistant per tab in session_state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6199632" y="1755648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Example questions in st.expander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199632" y="2322576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Intent hint: prepends "Calculate: " if needed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6199632" y="2889504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Same chat pattern as Summarization tab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6199632" y="3456432"/>
            <a:ext cx="2578608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Shared retriever singleton across all tabs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74320" y="4782312"/>
            <a:ext cx="8595360" cy="182880"/>
          </a:xfrm>
          <a:prstGeom prst="roundRect">
            <a:avLst>
              <a:gd name="adj" fmla="val 20000"/>
            </a:avLst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0040" y="4791456"/>
            <a:ext cx="850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Theme: #f0fdf4 (light green bg) · #d1fae5 (tab bar) · #10b981 (active tab) · Hospital SVG doodle in header · st.set_page_config must be first call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🧠  AgentState — The 11-Field Shared State (TypedDict)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74320" y="64008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node reads from and writes to this shared state. LangGraph merges updates automatically using reducers.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" y="877824"/>
            <a:ext cx="8595360" cy="274320"/>
          </a:xfrm>
          <a:prstGeom prst="rect">
            <a:avLst/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7472" y="8869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2221992" y="88696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279392" y="88696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Reducer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5696712" y="88696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4320" y="1152144"/>
            <a:ext cx="8595360" cy="338328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7472" y="1152144"/>
            <a:ext cx="1783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user_input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2221992" y="1152144"/>
            <a:ext cx="1965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4279392" y="1152144"/>
            <a:ext cx="12984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5696712" y="1152144"/>
            <a:ext cx="3108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user message for the current turn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74320" y="1499616"/>
            <a:ext cx="8595360" cy="338328"/>
          </a:xfrm>
          <a:prstGeom prst="rect">
            <a:avLst/>
          </a:prstGeom>
          <a:solidFill>
            <a:srgbClr val="EFF6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47472" y="1499616"/>
            <a:ext cx="1783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2221992" y="1499616"/>
            <a:ext cx="1965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List[BaseMessage]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4279392" y="1499616"/>
            <a:ext cx="12984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add_messages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5696712" y="1499616"/>
            <a:ext cx="3108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conversation history — LangGraph appends, never overwrites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74320" y="1847088"/>
            <a:ext cx="8595360" cy="338328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47472" y="1847088"/>
            <a:ext cx="1783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2221992" y="1847088"/>
            <a:ext cx="1965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UserIntent | None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4279392" y="1847088"/>
            <a:ext cx="12984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5696712" y="1847088"/>
            <a:ext cx="3108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Classified intent object from classify_intent node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74320" y="2194560"/>
            <a:ext cx="8595360" cy="338328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47472" y="2194560"/>
            <a:ext cx="1783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next_step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2221992" y="2194560"/>
            <a:ext cx="1965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4279392" y="2194560"/>
            <a:ext cx="12984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5696712" y="2194560"/>
            <a:ext cx="3108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target: "qa_agent", "summarization_agent", "calculation_agent"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274320" y="2542032"/>
            <a:ext cx="8595360" cy="338328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47472" y="2542032"/>
            <a:ext cx="1783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conversation_summary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2221992" y="2542032"/>
            <a:ext cx="1965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4279392" y="2542032"/>
            <a:ext cx="12984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5696712" y="2542032"/>
            <a:ext cx="3108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LLM-written rolling summary of recent turns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74320" y="2889504"/>
            <a:ext cx="8595360" cy="338328"/>
          </a:xfrm>
          <a:prstGeom prst="rect">
            <a:avLst/>
          </a:prstGeom>
          <a:solidFill>
            <a:srgbClr val="FFFB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47472" y="2889504"/>
            <a:ext cx="1783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active_documents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2221992" y="2889504"/>
            <a:ext cx="1965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List[str]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4279392" y="2889504"/>
            <a:ext cx="12984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5696712" y="2889504"/>
            <a:ext cx="3108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IDs referenced so far in this session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274320" y="3236976"/>
            <a:ext cx="8595360" cy="338328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47472" y="3236976"/>
            <a:ext cx="1783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current_response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2221992" y="3236976"/>
            <a:ext cx="1965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| None</a:t>
            </a:r>
            <a:endParaRPr lang="en-US" sz="850" dirty="0"/>
          </a:p>
        </p:txBody>
      </p:sp>
      <p:sp>
        <p:nvSpPr>
          <p:cNvPr id="46" name="Text 44"/>
          <p:cNvSpPr txBox="1"/>
          <p:nvPr/>
        </p:nvSpPr>
        <p:spPr>
          <a:xfrm>
            <a:off x="4279392" y="3236976"/>
            <a:ext cx="12984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696712" y="3236976"/>
            <a:ext cx="3108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 from whichever agent ran this turn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274320" y="3584448"/>
            <a:ext cx="8595360" cy="338328"/>
          </a:xfrm>
          <a:prstGeom prst="rect">
            <a:avLst/>
          </a:prstGeom>
          <a:solidFill>
            <a:srgbClr val="CFFAFE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347472" y="3584448"/>
            <a:ext cx="1783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tools_used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2221992" y="3584448"/>
            <a:ext cx="1965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List[str]</a:t>
            </a:r>
            <a:endParaRPr lang="en-US" sz="850" dirty="0"/>
          </a:p>
        </p:txBody>
      </p:sp>
      <p:sp>
        <p:nvSpPr>
          <p:cNvPr id="51" name="Text 49"/>
          <p:cNvSpPr txBox="1"/>
          <p:nvPr/>
        </p:nvSpPr>
        <p:spPr>
          <a:xfrm>
            <a:off x="4279392" y="3584448"/>
            <a:ext cx="12984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5696712" y="3584448"/>
            <a:ext cx="3108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of tools called during this turn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274320" y="3931920"/>
            <a:ext cx="8595360" cy="338328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47472" y="3931920"/>
            <a:ext cx="1783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session_id</a:t>
            </a:r>
            <a:endParaRPr lang="en-US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2221992" y="3931920"/>
            <a:ext cx="1965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4279392" y="3931920"/>
            <a:ext cx="12984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57" name="Text 55"/>
          <p:cNvSpPr txBox="1"/>
          <p:nvPr/>
        </p:nvSpPr>
        <p:spPr>
          <a:xfrm>
            <a:off x="5696712" y="3931920"/>
            <a:ext cx="3108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thread_id for InMemorySaver checkpoint key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274320" y="4279392"/>
            <a:ext cx="8595360" cy="338328"/>
          </a:xfrm>
          <a:prstGeom prst="rect">
            <a:avLst/>
          </a:prstGeom>
          <a:solidFill>
            <a:srgbClr val="FFF1F2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347472" y="4279392"/>
            <a:ext cx="1783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user_id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2221992" y="4279392"/>
            <a:ext cx="1965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</a:t>
            </a:r>
            <a:endParaRPr lang="en-US" sz="850" dirty="0"/>
          </a:p>
        </p:txBody>
      </p:sp>
      <p:sp>
        <p:nvSpPr>
          <p:cNvPr id="61" name="Text 59"/>
          <p:cNvSpPr txBox="1"/>
          <p:nvPr/>
        </p:nvSpPr>
        <p:spPr>
          <a:xfrm>
            <a:off x="4279392" y="4279392"/>
            <a:ext cx="12984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5696712" y="4279392"/>
            <a:ext cx="3108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identifier passed through to state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274320" y="4626864"/>
            <a:ext cx="8595360" cy="338328"/>
          </a:xfrm>
          <a:prstGeom prst="rect">
            <a:avLst/>
          </a:prstGeom>
          <a:solidFill>
            <a:srgbClr val="D1FAE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347472" y="4626864"/>
            <a:ext cx="1783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actions_taken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2221992" y="4626864"/>
            <a:ext cx="1965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List[str]</a:t>
            </a:r>
            <a:endParaRPr lang="en-US" sz="850" dirty="0"/>
          </a:p>
        </p:txBody>
      </p:sp>
      <p:sp>
        <p:nvSpPr>
          <p:cNvPr id="66" name="Text 64"/>
          <p:cNvSpPr txBox="1"/>
          <p:nvPr/>
        </p:nvSpPr>
        <p:spPr>
          <a:xfrm>
            <a:off x="4279392" y="4626864"/>
            <a:ext cx="129844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operator.add</a:t>
            </a:r>
            <a:endParaRPr lang="en-US" sz="850" dirty="0"/>
          </a:p>
        </p:txBody>
      </p:sp>
      <p:sp>
        <p:nvSpPr>
          <p:cNvPr id="67" name="Text 65"/>
          <p:cNvSpPr txBox="1"/>
          <p:nvPr/>
        </p:nvSpPr>
        <p:spPr>
          <a:xfrm>
            <a:off x="5696712" y="4626864"/>
            <a:ext cx="3108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names accumulated across the turn — never reset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🔵  Graph Nodes 1–3 : classify_intent · qa_agent · summarization_agent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685800"/>
            <a:ext cx="8595360" cy="1353312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2336" y="74066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classify_intent  (Router)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02336" y="103327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402336" y="119786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user_input, messages (last 6)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2551176" y="103327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551176" y="119786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(UserIntent), next_step, actions_taken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4700016" y="103327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4700016" y="119786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llm.with_structured_output(UserIntent) → maps intent_type to target node name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6848856" y="103327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6848856" y="119786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to: qa_agent | summarization_agent | calculation_agent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02336" y="1728216"/>
            <a:ext cx="8302752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1737360"/>
            <a:ext cx="8193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Only node that does NOT call tools. Reads intent_type from structured LLM output.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" y="2112264"/>
            <a:ext cx="8595360" cy="1353312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02336" y="216712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qa_agent  (Q&amp;A)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02336" y="2459736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02336" y="262432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user_input, tools (from config)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2551176" y="2459736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2551176" y="262432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current_response (AnswerResponse), messages, tools_used, actions_taken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4700016" y="2459736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700016" y="262432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bind_tools(tools) → tool loop ×5 max → with_structured_output(AnswerResponse)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6848856" y="2459736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6848856" y="262432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Returns: question, answer, sources, confidence, timestamp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02336" y="3154680"/>
            <a:ext cx="8302752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7200" y="3163824"/>
            <a:ext cx="8193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Two-phase: (1) gather document content via tool loop, (2) produce structured AnswerResponse.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274320" y="3538728"/>
            <a:ext cx="8595360" cy="1353312"/>
          </a:xfrm>
          <a:prstGeom prst="roundRect">
            <a:avLst>
              <a:gd name="adj" fmla="val 5405"/>
            </a:avLst>
          </a:prstGeom>
          <a:solidFill>
            <a:srgbClr val="F5F3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02336" y="3593592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summarization_agent  (Summary)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402336" y="38862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402336" y="40507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user_input, tools (from config)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2551176" y="38862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2551176" y="40507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current_response (SummarizationResponse), messages, tools_used, actions_taken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4700016" y="38862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4700016" y="40507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bind_tools(tools) → tool loop ×5 max → with_structured_output(SummarizationResponse)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6848856" y="38862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6848856" y="40507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Returns: summary, key_points (3–7), sources, timestamp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02336" y="4581144"/>
            <a:ext cx="8302752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7200" y="4590288"/>
            <a:ext cx="8193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Same two-phase pattern as qa_agent. Prompt forces concise summary + bullet points.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🔴🟢  Graph Nodes 4–5 : calculation_agent · update_memory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713232"/>
            <a:ext cx="8595360" cy="2029968"/>
          </a:xfrm>
          <a:prstGeom prst="roundRect">
            <a:avLst>
              <a:gd name="adj" fmla="val 3604"/>
            </a:avLst>
          </a:prstGeom>
          <a:solidFill>
            <a:srgbClr val="FFF1F2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2336" y="786384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calculation_agent  (Calculator)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02336" y="117043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402336" y="135331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user_input, tools (from config)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2551176" y="117043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551176" y="135331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current_response (CalculationResponse), messages, tools_used, actions_taken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4700016" y="117043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4700016" y="135331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bind_tools(tools) → tool loop ×8 max → with_structured_output(CalculationResponse)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6848856" y="117043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6848856" y="135331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Returns: question, result (with units), expression, sources, timestamp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02336" y="2130552"/>
            <a:ext cx="8302752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635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2148840"/>
            <a:ext cx="8193024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Longer loop (max_iter=8) so model can call document_reader THEN calculator. Prompt enforces tool use for all arithmetic.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834640"/>
            <a:ext cx="8595360" cy="2029968"/>
          </a:xfrm>
          <a:prstGeom prst="roundRect">
            <a:avLst>
              <a:gd name="adj" fmla="val 3604"/>
            </a:avLst>
          </a:prstGeom>
          <a:solidFill>
            <a:srgbClr val="D1FAE5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02336" y="2907792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update_memory  (Convergence &amp; Memory)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02336" y="32918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02336" y="3474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(last 10), current_response, active_documents, llm (from config)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2551176" y="32918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2551176" y="3474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conversation_summary, active_documents (merged), next_step=END, actions_taken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4700016" y="32918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700016" y="3474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summarises recent messages → extracts source doc IDs from current_response.sources → merges into active_documents list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6848856" y="32918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6848856" y="3474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next_step to END — the graph terminates. Every agent path converges here.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02336" y="4251960"/>
            <a:ext cx="8302752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6350">
            <a:solidFill>
              <a:srgbClr val="10B98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7200" y="4270248"/>
            <a:ext cx="8193024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Mandatory final node. Provides persistent memory of which documents were used across multi-turn conversations.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📊  LangGraph Workflow Diagram — StateGraph Visual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4160520" y="685800"/>
            <a:ext cx="822960" cy="365760"/>
          </a:xfrm>
          <a:prstGeom prst="ellipse">
            <a:avLst/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60520" y="6858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0" y="1051560"/>
            <a:ext cx="0" cy="338328"/>
          </a:xfrm>
          <a:prstGeom prst="line">
            <a:avLst/>
          </a:prstGeom>
          <a:noFill/>
          <a:ln w="17780">
            <a:solidFill>
              <a:srgbClr val="064E3B"/>
            </a:solidFill>
            <a:prstDash val="solid"/>
            <a:tailEnd type="arrow"/>
          </a:ln>
        </p:spPr>
      </p:sp>
      <p:sp>
        <p:nvSpPr>
          <p:cNvPr id="10" name="Shape 8"/>
          <p:cNvSpPr/>
          <p:nvPr/>
        </p:nvSpPr>
        <p:spPr>
          <a:xfrm>
            <a:off x="3246120" y="1389888"/>
            <a:ext cx="2651760" cy="54864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46120" y="1389888"/>
            <a:ext cx="265176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classify_intent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(Router — LLM structured output)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840480" y="1938528"/>
            <a:ext cx="0" cy="393192"/>
          </a:xfrm>
          <a:prstGeom prst="line">
            <a:avLst/>
          </a:prstGeom>
          <a:noFill/>
          <a:ln w="17780">
            <a:solidFill>
              <a:srgbClr val="1D4ED8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>
            <a:off x="4572000" y="1938528"/>
            <a:ext cx="0" cy="393192"/>
          </a:xfrm>
          <a:prstGeom prst="line">
            <a:avLst/>
          </a:prstGeom>
          <a:noFill/>
          <a:ln w="17780">
            <a:solidFill>
              <a:srgbClr val="7C3AED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>
            <a:off x="5303520" y="1938528"/>
            <a:ext cx="0" cy="393192"/>
          </a:xfrm>
          <a:prstGeom prst="line">
            <a:avLst/>
          </a:prstGeom>
          <a:noFill/>
          <a:ln w="17780">
            <a:solidFill>
              <a:srgbClr val="DC2626"/>
            </a:solidFill>
            <a:prstDash val="solid"/>
            <a:tailEnd type="arrow"/>
          </a:ln>
        </p:spPr>
      </p:sp>
      <p:sp>
        <p:nvSpPr>
          <p:cNvPr id="15" name="Text 13"/>
          <p:cNvSpPr txBox="1"/>
          <p:nvPr/>
        </p:nvSpPr>
        <p:spPr>
          <a:xfrm>
            <a:off x="1920240" y="202996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intent=qa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4251960" y="196596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intent=summarization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5349240" y="202996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intent=calculation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74320" y="2331720"/>
            <a:ext cx="2560320" cy="566928"/>
          </a:xfrm>
          <a:prstGeom prst="roundRect">
            <a:avLst>
              <a:gd name="adj" fmla="val 9677"/>
            </a:avLst>
          </a:prstGeom>
          <a:solidFill>
            <a:srgbClr val="EFF6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74320" y="2331720"/>
            <a:ext cx="256032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qa_agent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AnswerResponse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91840" y="2331720"/>
            <a:ext cx="2560320" cy="566928"/>
          </a:xfrm>
          <a:prstGeom prst="roundRect">
            <a:avLst>
              <a:gd name="adj" fmla="val 9677"/>
            </a:avLst>
          </a:prstGeom>
          <a:solidFill>
            <a:srgbClr val="F5F3FF"/>
          </a:solidFill>
          <a:ln w="1524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291840" y="2331720"/>
            <a:ext cx="256032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summarization_agent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SummarizationResponse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309360" y="2331720"/>
            <a:ext cx="2560320" cy="566928"/>
          </a:xfrm>
          <a:prstGeom prst="roundRect">
            <a:avLst>
              <a:gd name="adj" fmla="val 9677"/>
            </a:avLst>
          </a:prstGeom>
          <a:solidFill>
            <a:srgbClr val="FFF1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09360" y="2331720"/>
            <a:ext cx="256032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calculation_agent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CalculationResponse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554480" y="2898648"/>
            <a:ext cx="2103120" cy="640080"/>
          </a:xfrm>
          <a:prstGeom prst="line">
            <a:avLst/>
          </a:prstGeom>
          <a:noFill/>
          <a:ln w="15240">
            <a:solidFill>
              <a:srgbClr val="374151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4572000" y="2898648"/>
            <a:ext cx="0" cy="640080"/>
          </a:xfrm>
          <a:prstGeom prst="line">
            <a:avLst/>
          </a:prstGeom>
          <a:noFill/>
          <a:ln w="17780">
            <a:solidFill>
              <a:srgbClr val="374151"/>
            </a:solidFill>
            <a:prstDash val="solid"/>
            <a:tailEnd type="arrow"/>
          </a:ln>
        </p:spPr>
      </p:sp>
      <p:sp>
        <p:nvSpPr>
          <p:cNvPr id="26" name="Shape 24"/>
          <p:cNvSpPr/>
          <p:nvPr/>
        </p:nvSpPr>
        <p:spPr>
          <a:xfrm>
            <a:off x="7589520" y="2898648"/>
            <a:ext cx="-2103120" cy="640080"/>
          </a:xfrm>
          <a:prstGeom prst="line">
            <a:avLst/>
          </a:prstGeom>
          <a:noFill/>
          <a:ln w="15240">
            <a:solidFill>
              <a:srgbClr val="374151"/>
            </a:solidFill>
            <a:prstDash val="solid"/>
            <a:tailEnd type="arrow"/>
          </a:ln>
        </p:spPr>
      </p:sp>
      <p:sp>
        <p:nvSpPr>
          <p:cNvPr id="27" name="Shape 25"/>
          <p:cNvSpPr/>
          <p:nvPr/>
        </p:nvSpPr>
        <p:spPr>
          <a:xfrm>
            <a:off x="3246120" y="3538728"/>
            <a:ext cx="2651760" cy="54864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246120" y="3538728"/>
            <a:ext cx="265176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update_memory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&amp; Docs Tracking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0" y="4087368"/>
            <a:ext cx="0" cy="374904"/>
          </a:xfrm>
          <a:prstGeom prst="line">
            <a:avLst/>
          </a:prstGeom>
          <a:noFill/>
          <a:ln w="17780">
            <a:solidFill>
              <a:srgbClr val="10B981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>
            <a:off x="4160520" y="4462272"/>
            <a:ext cx="822960" cy="384048"/>
          </a:xfrm>
          <a:prstGeom prst="ellipse">
            <a:avLst/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160520" y="4462272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949440" y="3383280"/>
            <a:ext cx="1920240" cy="594360"/>
          </a:xfrm>
          <a:prstGeom prst="roundRect">
            <a:avLst>
              <a:gd name="adj" fmla="val 9231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95160" y="3401568"/>
            <a:ext cx="18288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InMemorySaver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checkpoints state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each node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74320" y="3383280"/>
            <a:ext cx="214884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20040" y="3410712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Types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320040" y="3593592"/>
            <a:ext cx="2057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─── Conditional (via _route_to_agent)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─── Fixed (add_edge)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🔄  Step-by-Step Execution — "What is the Q2 net profit?" (example)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685800"/>
            <a:ext cx="4251960" cy="1005840"/>
          </a:xfrm>
          <a:prstGeom prst="roundRect">
            <a:avLst>
              <a:gd name="adj" fmla="val 6364"/>
            </a:avLst>
          </a:prstGeom>
          <a:solidFill>
            <a:srgbClr val="D1FAE5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4048" y="941832"/>
            <a:ext cx="329184" cy="32918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84048" y="941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86384" y="74066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types in Streamlit calculator tab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786384" y="996696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is the Q2 net profit?"  → intent hint prepended → "Calculate: What is the Q2 net profit?"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09160" y="685800"/>
            <a:ext cx="4251960" cy="1005840"/>
          </a:xfrm>
          <a:prstGeom prst="roundRect">
            <a:avLst>
              <a:gd name="adj" fmla="val 6364"/>
            </a:avLst>
          </a:prstGeom>
          <a:solidFill>
            <a:srgbClr val="EFF6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18888" y="941832"/>
            <a:ext cx="329184" cy="329184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18888" y="941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221224" y="74066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DocumentAssistant.process_message()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221224" y="996696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AgentState with user_input. Sets RunnableConfig: thread_id, llm (GPT-4o), tools (calculator + document_reader).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" y="1764792"/>
            <a:ext cx="4251960" cy="1005840"/>
          </a:xfrm>
          <a:prstGeom prst="roundRect">
            <a:avLst>
              <a:gd name="adj" fmla="val 6364"/>
            </a:avLst>
          </a:prstGeom>
          <a:solidFill>
            <a:srgbClr val="EFF6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2020824"/>
            <a:ext cx="329184" cy="329184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84048" y="2020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86384" y="181965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classify_intent node runs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786384" y="2075688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 with UserIntent structured output → intent_type="calculation", confidence=0.95. Sets next_step="calculation_agent".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09160" y="1764792"/>
            <a:ext cx="4251960" cy="1005840"/>
          </a:xfrm>
          <a:prstGeom prst="roundRect">
            <a:avLst>
              <a:gd name="adj" fmla="val 6364"/>
            </a:avLst>
          </a:prstGeom>
          <a:solidFill>
            <a:srgbClr val="FFF1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18888" y="2020824"/>
            <a:ext cx="329184" cy="32918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18888" y="2020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221224" y="181965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calculation_agent — Phase 1: Tool loop (×8 max)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5221224" y="2075688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calls document_reader("doc_financial_q2") → gets Q2 report. Sees Net Profit: $1,900,000.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" y="2843784"/>
            <a:ext cx="4251960" cy="1005840"/>
          </a:xfrm>
          <a:prstGeom prst="roundRect">
            <a:avLst>
              <a:gd name="adj" fmla="val 6364"/>
            </a:avLst>
          </a:prstGeom>
          <a:solidFill>
            <a:srgbClr val="FFF1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048" y="3099816"/>
            <a:ext cx="329184" cy="32918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84048" y="3099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786384" y="289864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calculation_agent — calculator tool called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786384" y="31546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calls calculator("1900000") → "Result: 1,900,000". Context captured.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709160" y="2843784"/>
            <a:ext cx="4251960" cy="1005840"/>
          </a:xfrm>
          <a:prstGeom prst="roundRect">
            <a:avLst>
              <a:gd name="adj" fmla="val 6364"/>
            </a:avLst>
          </a:prstGeom>
          <a:solidFill>
            <a:srgbClr val="FFF1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18888" y="3099816"/>
            <a:ext cx="329184" cy="32918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18888" y="3099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5221224" y="289864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calculation_agent — Phase 2: Structured output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5221224" y="31546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LLM.with_structured_output(CalculationResponse) → result="$1,900,000", expression="1900000", sources=["doc_financial_q2"].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274320" y="3922776"/>
            <a:ext cx="4251960" cy="1005840"/>
          </a:xfrm>
          <a:prstGeom prst="roundRect">
            <a:avLst>
              <a:gd name="adj" fmla="val 6364"/>
            </a:avLst>
          </a:prstGeom>
          <a:solidFill>
            <a:srgbClr val="D1FAE5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4048" y="4178808"/>
            <a:ext cx="329184" cy="32918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84048" y="4178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786384" y="397764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update_memory node runs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786384" y="4233672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Summarises conversation. Adds "doc_financial_q2" to active_documents. Sets next_step=END.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709160" y="3922776"/>
            <a:ext cx="4251960" cy="1005840"/>
          </a:xfrm>
          <a:prstGeom prst="roundRect">
            <a:avLst>
              <a:gd name="adj" fmla="val 6364"/>
            </a:avLst>
          </a:prstGeom>
          <a:solidFill>
            <a:srgbClr val="E8F5E9"/>
          </a:solidFill>
          <a:ln w="15240">
            <a:solidFill>
              <a:srgbClr val="064E3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818888" y="4178808"/>
            <a:ext cx="329184" cy="329184"/>
          </a:xfrm>
          <a:prstGeom prst="ellipse">
            <a:avLst/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818888" y="4178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5221224" y="397764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returned to Streamlit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5221224" y="4233672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state["current_response"].result displayed in chat bubble: "The Q2 2026 net profit is $1,900,000."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📤  Output Schemas — 3 Structured Response Types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74320" y="64008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specialist agent calls llm.with_structured_output(Schema) after its tool loop to guarantee typed, validated output.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" y="960120"/>
            <a:ext cx="2788920" cy="3931920"/>
          </a:xfrm>
          <a:prstGeom prst="roundRect">
            <a:avLst>
              <a:gd name="adj" fmla="val 2623"/>
            </a:avLst>
          </a:prstGeom>
          <a:solidFill>
            <a:srgbClr val="EFF6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5760" y="10058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AnswerResponse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" y="1280160"/>
            <a:ext cx="2651760" cy="219456"/>
          </a:xfrm>
          <a:prstGeom prst="roundRect">
            <a:avLst>
              <a:gd name="adj" fmla="val 16667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" y="128016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by qa_agent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" y="159105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02336" y="176479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— The user's original question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402336" y="209397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02336" y="226771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— Complete answer with explanation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402336" y="259689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02336" y="27706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List[str] — Document IDs consulted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402336" y="30998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02336" y="327355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 0–1 — Agent's confidence level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402336" y="360273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02336" y="377647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datetime — Auto-populated by Pydantic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154680" y="960120"/>
            <a:ext cx="2788920" cy="3931920"/>
          </a:xfrm>
          <a:prstGeom prst="roundRect">
            <a:avLst>
              <a:gd name="adj" fmla="val 2623"/>
            </a:avLst>
          </a:prstGeom>
          <a:solidFill>
            <a:srgbClr val="F5F3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246120" y="10058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SummarizationResponse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27832" y="1280160"/>
            <a:ext cx="2651760" cy="219456"/>
          </a:xfrm>
          <a:prstGeom prst="roundRect">
            <a:avLst>
              <a:gd name="adj" fmla="val 1666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227832" y="128016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by summarization_agent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3282696" y="159105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3282696" y="176479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— Concise paragraph summary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3282696" y="209397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key_points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3282696" y="226771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List[str] — 3 to 7 bullet points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3282696" y="259689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3282696" y="27706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List[str] — Document IDs used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3282696" y="30998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3282696" y="327355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datetime — Auto-populated by Pydantic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035040" y="960120"/>
            <a:ext cx="2788920" cy="3931920"/>
          </a:xfrm>
          <a:prstGeom prst="roundRect">
            <a:avLst>
              <a:gd name="adj" fmla="val 2623"/>
            </a:avLst>
          </a:prstGeom>
          <a:solidFill>
            <a:srgbClr val="FFF1F2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126480" y="10058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CalculationResponse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108192" y="1280160"/>
            <a:ext cx="2651760" cy="219456"/>
          </a:xfrm>
          <a:prstGeom prst="roundRect">
            <a:avLst>
              <a:gd name="adj" fmla="val 1666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8192" y="128016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by calculation_agent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6163056" y="159105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6163056" y="176479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— Original question asked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6163056" y="209397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6163056" y="226771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— Numeric result with units &amp; context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6163056" y="259689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expression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6163056" y="27706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— Math expression that was evaluated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6163056" y="30998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6163056" y="327355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List[str] — Document IDs with source data</a:t>
            </a:r>
            <a:endParaRPr lang="en-US" sz="850" dirty="0"/>
          </a:p>
        </p:txBody>
      </p:sp>
      <p:sp>
        <p:nvSpPr>
          <p:cNvPr id="46" name="Text 44"/>
          <p:cNvSpPr txBox="1"/>
          <p:nvPr/>
        </p:nvSpPr>
        <p:spPr>
          <a:xfrm>
            <a:off x="6163056" y="360273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6163056" y="377647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datetime — Auto-populated by Pydantic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📊  Sample Data — 4 CSV Files Included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685800"/>
            <a:ext cx="8595360" cy="1005840"/>
          </a:xfrm>
          <a:prstGeom prst="roundRect">
            <a:avLst>
              <a:gd name="adj" fmla="val 7273"/>
            </a:avLst>
          </a:prstGeom>
          <a:solidFill>
            <a:srgbClr val="EFF6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2336" y="749808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finance_transactions_500.csv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92240" y="758952"/>
            <a:ext cx="868680" cy="274320"/>
          </a:xfrm>
          <a:prstGeom prst="roundRect">
            <a:avLst>
              <a:gd name="adj" fmla="val 13333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92240" y="75895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rows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02336" y="101498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Columns: Transaction_ID, Date, Quarter, Region, Product, Channel, Units_Sold, Unit_Price_USD, Revenue_USD, Discount_Pct, Net_Revenue_USD, COGS_USD, Gross_Profit_USD, Sales_Rep, Status, Customer_Segment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402336" y="1280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columns · Regions: N/S/E/W/Central · Products: SaaS Pro, Consulting, etc. · 5 Sales Reps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4320" y="1764792"/>
            <a:ext cx="8595360" cy="1005840"/>
          </a:xfrm>
          <a:prstGeom prst="roundRect">
            <a:avLst>
              <a:gd name="adj" fmla="val 7273"/>
            </a:avLst>
          </a:prstGeom>
          <a:solidFill>
            <a:srgbClr val="F5F3FF"/>
          </a:solidFill>
          <a:ln w="1524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02336" y="18288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hospital_patient_records_500.csv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92240" y="1837944"/>
            <a:ext cx="868680" cy="274320"/>
          </a:xfrm>
          <a:prstGeom prst="roundRect">
            <a:avLst>
              <a:gd name="adj" fmla="val 1333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92240" y="183794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rows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402336" y="209397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Columns: Patient_ID, Admission_Date, Discharge_Date, Department, Primary_Diagnosis, Age, Gender, Length_of_Stay_Days, Total_Cost_USD, Insurance_Type, Insurance_Covered_USD, Patient_Paid_USD, Outcome, Readmitted_30Days, Satisfaction_Score, Attending_Physician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402336" y="23591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columns · 10 Departments · Insurance: Private/Medicare/Medicaid/Self-Pay · 10 Physicians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843784"/>
            <a:ext cx="8595360" cy="1005840"/>
          </a:xfrm>
          <a:prstGeom prst="roundRect">
            <a:avLst>
              <a:gd name="adj" fmla="val 7273"/>
            </a:avLst>
          </a:prstGeom>
          <a:solidFill>
            <a:srgbClr val="FFFBEB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02336" y="290779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q3_2026_financial_report.csv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92240" y="2916936"/>
            <a:ext cx="868680" cy="274320"/>
          </a:xfrm>
          <a:prstGeom prst="roundRect">
            <a:avLst>
              <a:gd name="adj" fmla="val 13333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92240" y="291693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rows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02336" y="31729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Columns: Quarter summary: Revenue, Operating Expenses, Net Profit, Gross Margin, Customer counts, Asset &amp; Liability data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402336" y="34381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Summary-format CSV · Used for quick Q&amp;A and calculation queries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922776"/>
            <a:ext cx="8595360" cy="1005840"/>
          </a:xfrm>
          <a:prstGeom prst="roundRect">
            <a:avLst>
              <a:gd name="adj" fmla="val 7273"/>
            </a:avLst>
          </a:prstGeom>
          <a:solidFill>
            <a:srgbClr val="CFFAFE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02336" y="3986784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city_hospital_department_stats.csv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3995928"/>
            <a:ext cx="868680" cy="274320"/>
          </a:xfrm>
          <a:prstGeom prst="roundRect">
            <a:avLst>
              <a:gd name="adj" fmla="val 13333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92240" y="39959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rows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02336" y="4251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Columns: Department, Patients Treated, Avg Stay (Days), Revenue (USD), Operating Cost (USD), Satisfaction Score, Staff Count, Bed Count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02336" y="45171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departments + hospital-wide summary · Total Revenue $76.9M · 30,180 patients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457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💡  Key Design Decisions &amp; Architecture Pattern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45720"/>
            <a:ext cx="594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685800"/>
            <a:ext cx="4251960" cy="1307592"/>
          </a:xfrm>
          <a:prstGeom prst="roundRect">
            <a:avLst>
              <a:gd name="adj" fmla="val 5594"/>
            </a:avLst>
          </a:prstGeom>
          <a:solidFill>
            <a:srgbClr val="EFF6FF"/>
          </a:solidFill>
          <a:ln w="16510">
            <a:solidFill>
              <a:srgbClr val="1D4E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2336" y="777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Router/Dispatcher Multi-Agent Pattern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02336" y="1069848"/>
            <a:ext cx="40233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central classify_intent node routes to specialist agents. Clean separation of concerns: router knows nothing about documents; agents know nothing about routing.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709160" y="685800"/>
            <a:ext cx="4251960" cy="1307592"/>
          </a:xfrm>
          <a:prstGeom prst="roundRect">
            <a:avLst>
              <a:gd name="adj" fmla="val 5594"/>
            </a:avLst>
          </a:prstGeom>
          <a:solidFill>
            <a:srgbClr val="FFFBEB"/>
          </a:solidFill>
          <a:ln w="1651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37176" y="777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Retrieval (not RAG)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837176" y="1069848"/>
            <a:ext cx="40233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are matched by term-count scoring on full text, not vector embeddings. Simpler, no embedding API costs, works well for structured CSVs. faiss-cpu is in requirements but unused.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4320" y="2075688"/>
            <a:ext cx="4251960" cy="1307592"/>
          </a:xfrm>
          <a:prstGeom prst="roundRect">
            <a:avLst>
              <a:gd name="adj" fmla="val 5594"/>
            </a:avLst>
          </a:prstGeom>
          <a:solidFill>
            <a:srgbClr val="F5F3FF"/>
          </a:solidFill>
          <a:ln w="1651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02336" y="21671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RunnableConfig for LLM/Tool Injection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02336" y="2459736"/>
            <a:ext cx="40233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and tools are NOT stored globally. They are passed through RunnableConfig per-invocation. This keeps nodes testable and decoupled from how the LLM is configured.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709160" y="2075688"/>
            <a:ext cx="4251960" cy="1307592"/>
          </a:xfrm>
          <a:prstGeom prst="roundRect">
            <a:avLst>
              <a:gd name="adj" fmla="val 5594"/>
            </a:avLst>
          </a:prstGeom>
          <a:solidFill>
            <a:srgbClr val="D1FAE5"/>
          </a:solidFill>
          <a:ln w="16510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37176" y="21671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InMemorySaver for State Persistence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2459736"/>
            <a:ext cx="40233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AgentState is checkpointed after every node. Keyed by thread_id, so the same session resumes correctly across multiple .invoke() calls within a session.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4320" y="3465576"/>
            <a:ext cx="4251960" cy="1307592"/>
          </a:xfrm>
          <a:prstGeom prst="roundRect">
            <a:avLst>
              <a:gd name="adj" fmla="val 5594"/>
            </a:avLst>
          </a:prstGeom>
          <a:solidFill>
            <a:srgbClr val="CFFAFE"/>
          </a:solidFill>
          <a:ln w="1651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02336" y="355701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v2 Structured Outputs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02336" y="3849624"/>
            <a:ext cx="40233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agent responses are typed Pydantic models. Prevents hallucinated or missing fields. with_structured_output() forces the LLM to conform to the schema.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709160" y="3465576"/>
            <a:ext cx="4251960" cy="1307592"/>
          </a:xfrm>
          <a:prstGeom prst="roundRect">
            <a:avLst>
              <a:gd name="adj" fmla="val 5594"/>
            </a:avLst>
          </a:prstGeom>
          <a:solidFill>
            <a:srgbClr val="FFF1F2"/>
          </a:solidFill>
          <a:ln w="16510">
            <a:solidFill>
              <a:srgbClr val="DC262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37176" y="355701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Per-Tab Assistant Isolation in Streamlit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837176" y="3849624"/>
            <a:ext cx="40233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tab (Summarization, Calculator) owns a separate DocumentAssistant instance with its own thread_id. The retriever is a module-level singleton shared across all tabs.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4E3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-457200"/>
            <a:ext cx="3200400" cy="3200400"/>
          </a:xfrm>
          <a:prstGeom prst="ellipse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457200" y="3200400"/>
            <a:ext cx="2286000" cy="2286000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5029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 Assistant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2984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covered: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64208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Router/Dispatcher multi-agent pattern via LangGraph StateGraph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5740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11-field AgentState with add_messages and operator.add reducers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450592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5 nodes: classify_intent → [qa | summarize | calculate] → update_memory → END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843784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2 tools: calculator (safe eval) + document_reader (keyword retrieval)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236976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4 Pydantic output schemas with LLM structured output enforcement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630168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Streamlit UI with 3 tabs, hospital doodle, light-green theme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02336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500-row Finance + Hospital CSV sample datasets for testing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416552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InMemorySaver for persistent, thread-keyed conversation state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645152"/>
            <a:ext cx="7498080" cy="310896"/>
          </a:xfrm>
          <a:prstGeom prst="roundRect">
            <a:avLst>
              <a:gd name="adj" fmla="val 14706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4654296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github.com/alwinalexanderjohn/agenticaiaccenture  ·  Stack: LangGraph · LangChain · OpenAI GPT-4o · Streamlit · Python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3200">
                <a:solidFill>
                  <a:srgbClr val="74C7EC"/>
                </a:solidFill>
              </a:rPr>
              <a:t>Recent Updates — Oct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DD6F4"/>
                </a:solidFill>
              </a:rPr>
              <a:t>CLI  ·  Logging  ·  Sessions  ·  Prompt Engineering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400">
                <a:solidFill>
                  <a:srgbClr val="74C7EC"/>
                </a:solidFill>
              </a:rPr>
              <a:t>Update 1 — Numbered Menu CLI (main.py)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DD6F4"/>
                </a:solidFill>
              </a:rPr>
              <a:t>Replaced free-text command input with a numbered menu.</a:t>
            </a:r>
          </a:p>
          <a:p>
            <a:pPr algn="l"/>
            <a:r>
              <a:rPr sz="1300" b="0">
                <a:solidFill>
                  <a:srgbClr val="CDD6F4"/>
                </a:solidFill>
              </a:rPr>
              <a:t>Every option shows a repeat-or-back sub-menu after each action.</a:t>
            </a:r>
          </a:p>
          <a:p>
            <a:pPr algn="l"/>
            <a:r>
              <a:rPr sz="1300" b="0">
                <a:solidFill>
                  <a:srgbClr val="CDD6F4"/>
                </a:solidFill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691640"/>
            <a:ext cx="8412480" cy="4206240"/>
          </a:xfrm>
          <a:prstGeom prst="rect">
            <a:avLst/>
          </a:prstGeom>
          <a:solidFill>
            <a:srgbClr val="18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783080"/>
            <a:ext cx="8229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A6E3A1"/>
                </a:solidFill>
                <a:latin typeface="Courier New"/>
              </a:rPr>
              <a:t>  ┌─────────────────────────────────────────┐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│  1  📁  Upload Document                 │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│  2  ❓  Question &amp; Answer               │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│  3  📄  Summarize Document              │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│  4  🧮  Calculator                      │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│  5  📚  Show Loaded Documents           │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│  6  ℹ️   Session Info                   │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│  0  ❌  Quit                            │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└─────────────────────────────────────────┘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After each action: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┌──────────────────────────────────────────┐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│  1  🔄  Ask another question             │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│  0  ↩   Back to main menu                │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└──────────────────────────────────────────┘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400">
                <a:solidFill>
                  <a:srgbClr val="74C7EC"/>
                </a:solidFill>
              </a:rPr>
              <a:t>Update 2 — Native File Picker (tkinter)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DD6F4"/>
                </a:solidFill>
              </a:rPr>
              <a:t>Option 1 opens a native Windows file browser dialog via tkinter.filedialog.</a:t>
            </a:r>
          </a:p>
          <a:p>
            <a:pPr algn="l"/>
            <a:r>
              <a:rPr sz="1300" b="0">
                <a:solidFill>
                  <a:srgbClr val="CDD6F4"/>
                </a:solidFill>
              </a:rPr>
              <a:t>Falls back to manual path entry if dialog is unavailable.</a:t>
            </a:r>
          </a:p>
          <a:p>
            <a:pPr algn="l"/>
            <a:r>
              <a:rPr sz="1300" b="0">
                <a:solidFill>
                  <a:srgbClr val="CDD6F4"/>
                </a:solidFill>
              </a:rPr>
              <a:t>Supports: PDF  TXT  MD  CSV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828800"/>
            <a:ext cx="8412480" cy="4023360"/>
          </a:xfrm>
          <a:prstGeom prst="rect">
            <a:avLst/>
          </a:prstGeom>
          <a:solidFill>
            <a:srgbClr val="18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8229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A6E3A1"/>
                </a:solidFill>
                <a:latin typeface="Courier New"/>
              </a:rPr>
              <a:t>def _pick_file() -&gt; str | None: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import tkinter as tk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from tkinter import filedialog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root = tk.Tk()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root.withdraw()               # hide blank Tk window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root.attributes("-topmost", True)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path = filedialog.askopenfilename(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   title="Select a document to upload",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   filetypes=[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       ("Supported files", "*.pdf *.txt *.md *.csv"),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       ("All files", "*.*"),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   ],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)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root.destroy()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return path if path else None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# Fallback if dialog unavailable: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file_path = input("  Path: ").strip()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400">
                <a:solidFill>
                  <a:srgbClr val="74C7EC"/>
                </a:solidFill>
              </a:rPr>
              <a:t>Update 3 — Per-Session Logs (tools.py)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8412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DD6F4"/>
                </a:solidFill>
              </a:rPr>
              <a:t>OLD: One file per day  →  logs/tool_calls_2026-10-05.log  (no session ID)</a:t>
            </a:r>
          </a:p>
          <a:p>
            <a:pPr algn="l"/>
            <a:r>
              <a:rPr sz="1300" b="0">
                <a:solidFill>
                  <a:srgbClr val="CDD6F4"/>
                </a:solidFill>
              </a:rPr>
              <a:t>NEW: One file per session  →  logs/&lt;session_id&gt;.log</a:t>
            </a:r>
          </a:p>
          <a:p>
            <a:pPr algn="l"/>
            <a:r>
              <a:rPr sz="1300" b="0">
                <a:solidFill>
                  <a:srgbClr val="CDD6F4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CDD6F4"/>
                </a:solidFill>
              </a:rPr>
              <a:t>All code paths now logged with status labels: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2011680"/>
            <a:ext cx="8412480" cy="3840480"/>
          </a:xfrm>
          <a:prstGeom prst="rect">
            <a:avLst/>
          </a:prstGeom>
          <a:solidFill>
            <a:srgbClr val="18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10312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A6E3A1"/>
                </a:solidFill>
                <a:latin typeface="Courier New"/>
              </a:rPr>
              <a:t># tools.py — session context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_current_session_id: str = "unknown"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def set_session_context(session_id: str) -&gt; None: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global _current_session_id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_current_session_id = session_id   # called by assistant.start_session()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class ToolLogger: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@staticmethod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def log(tool_name, input_data, output, status="OK"):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   log_file = Path("logs") / f"{_current_session_id}.log"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   with open(log_file, "a") as f: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       f.write(f"[{ts}]  Tool: {tool_name}  |  Status: {status}\n")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       f.write(f"  Input:  {input_data}\n")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       f.write(f"  Output: {output}\n\n")   # no truncation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# Status labels: LIST | EXACT_MATCH | KEYWORD_MATCH | FALLBACK_ALL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#                NO_MATCH | ERROR | INVALID_INPUT | ZERO_DIVISION | FALLBACK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400">
                <a:solidFill>
                  <a:srgbClr val="74C7EC"/>
                </a:solidFill>
              </a:rPr>
              <a:t>Update 4 — Full Conversation History in sessions/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8412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DD6F4"/>
                </a:solidFill>
              </a:rPr>
              <a:t>OLD: sessions/&lt;uuid&gt;.json had only metadata (session_id, user_id, message_count)</a:t>
            </a:r>
          </a:p>
          <a:p>
            <a:pPr algn="l"/>
            <a:r>
              <a:rPr sz="1300" b="0">
                <a:solidFill>
                  <a:srgbClr val="CDD6F4"/>
                </a:solidFill>
              </a:rPr>
              <a:t>NEW: Each turn is appended to conversation_history with full detail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737360"/>
            <a:ext cx="8412480" cy="4114800"/>
          </a:xfrm>
          <a:prstGeom prst="rect">
            <a:avLst/>
          </a:prstGeom>
          <a:solidFill>
            <a:srgbClr val="18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8229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A6E3A1"/>
                </a:solidFill>
                <a:latin typeface="Courier New"/>
              </a:rPr>
              <a:t>{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"session_id": "c3d4e5f6-calculation-revenue-session",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"user_id": "user_001",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"created_at": "2026-10-05T11:20:00",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"message_count": 3,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"conversation_history": [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{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 "turn": 1,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 "timestamp": "2026-10-05T11:20:15",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 "user_input": "Calculate: total revenue Q1 and Q2",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 "intent_type": "calculation",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 "intent_confidence": 0.97,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 "intent_reasoning": "Prefix 'Calculate:' is explicit; adding two revenue figures requires arithmetic.",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 "tools_used": ["document_reader", "calculator"],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 "sources": ["doc_financial_q1", "doc_financial_q2"],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 "response": "Combined revenue is $9,300,000 ...",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 "conversation_summary": "..."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}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]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400">
                <a:solidFill>
                  <a:srgbClr val="74C7EC"/>
                </a:solidFill>
              </a:rPr>
              <a:t>Update 5 — MessagesPlaceholder in ChatPromptTemplate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8412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DD6F4"/>
                </a:solidFill>
              </a:rPr>
              <a:t>All three agent prompt templates now include MessagesPlaceholder</a:t>
            </a:r>
          </a:p>
          <a:p>
            <a:pPr algn="l"/>
            <a:r>
              <a:rPr sz="1300" b="0">
                <a:solidFill>
                  <a:srgbClr val="CDD6F4"/>
                </a:solidFill>
              </a:rPr>
              <a:t>so prior conversation turns are visible to the LLM (multi-turn context).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737360"/>
            <a:ext cx="8412480" cy="4114800"/>
          </a:xfrm>
          <a:prstGeom prst="rect">
            <a:avLst/>
          </a:prstGeom>
          <a:solidFill>
            <a:srgbClr val="18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8229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A6E3A1"/>
                </a:solidFill>
                <a:latin typeface="Courier New"/>
              </a:rPr>
              <a:t># prompts.py — BEFORE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from langchain_core.prompts import PromptTemplate, ChatPromptTemplate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return ChatPromptTemplate.from_messages([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("system", system_prompt),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("human", "{user_input}"),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])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# prompts.py — AFTER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from langchain_core.prompts import (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PromptTemplate, ChatPromptTemplate, MessagesPlaceholder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)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return ChatPromptTemplate.from_messages([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("system", system_prompt),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MessagesPlaceholder(variable_name="conversation_history", optional=True),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("human", "{user_input}"),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])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# agent.py — each agent now passes history into format_messages()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recent_history = state.get("messages", [])[-6:]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messages = prompt_template.format_messages(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user_input=enriched_input,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conversation_history=recent_history,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400">
                <a:solidFill>
                  <a:srgbClr val="74C7EC"/>
                </a:solidFill>
              </a:rPr>
              <a:t>Update 6 — Enriched Intent Classification 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DD6F4"/>
                </a:solidFill>
              </a:rPr>
              <a:t>Four improvements added to _INTENT_CLASSIFICATION_TEMPLATE in prompts.py: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63040"/>
            <a:ext cx="8412480" cy="4389120"/>
          </a:xfrm>
          <a:prstGeom prst="rect">
            <a:avLst/>
          </a:prstGeom>
          <a:solidFill>
            <a:srgbClr val="18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A6E3A1"/>
                </a:solidFill>
                <a:latin typeface="Courier New"/>
              </a:rPr>
              <a:t>1. EXAMPLES PER CATEGORY (3 per category)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"What is the readmission rate?" → qa,  confidence: 0.95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reasoning: "Direct factual question; no arithmetic required."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"Summarize the Q2 financial report" → summarization,  confidence: 0.97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reasoning: "'Summarize' is explicit; user wants condensed content."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"What is the combined revenue Q1+Q2?" → calculation,  confidence: 0.95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 reasoning: "Requires adding two figures from separate documents."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2. CONFIDENCE SCORING GUIDE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0.90–1.00  Intent is explicit and unambiguous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0.70–0.89  Likely correct but one other category is plausible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0.50–0.69  Genuinely ambiguous; fits two categories equally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Below 0.50  Very unclear — default to "qa"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3. TIE-BREAKING RULES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• Any request needing arithmetic → "calculation" (beats "qa")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• "overview / highlight / tell me about" → "summarization"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• Follow-up requests → inherit intent from conversation_history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• Uncertain → "qa" is the safe fallback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4. REASONING INSTRUCTIONS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"Name the specific words/phrases that drove your choice AND</a:t>
            </a:r>
          </a:p>
          <a:p>
            <a:r>
              <a:rPr sz="1100">
                <a:solidFill>
                  <a:srgbClr val="A6E3A1"/>
                </a:solidFill>
                <a:latin typeface="Courier New"/>
              </a:rPr>
              <a:t>    explain why you ruled out the next-closest category." 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400">
                <a:solidFill>
                  <a:srgbClr val="74C7EC"/>
                </a:solidFill>
              </a:rPr>
              <a:t>Summary of All Updates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1005840"/>
            <a:ext cx="320040" cy="347472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96696"/>
            <a:ext cx="3200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200">
                <a:solidFill>
                  <a:srgbClr val="1E1E2E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200">
                <a:solidFill>
                  <a:srgbClr val="F9E2AF"/>
                </a:solidFill>
              </a:rPr>
              <a:t>main.py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96012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FFFFFF"/>
                </a:solidFill>
              </a:rPr>
              <a:t>Numbered menu (1-6) + repeat-or-back sub-menu on every option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81328"/>
            <a:ext cx="320040" cy="347472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472184"/>
            <a:ext cx="3200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200">
                <a:solidFill>
                  <a:srgbClr val="1E1E2E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435608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200">
                <a:solidFill>
                  <a:srgbClr val="F9E2AF"/>
                </a:solidFill>
              </a:rPr>
              <a:t>main.py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1435608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FFFFFF"/>
                </a:solidFill>
              </a:rPr>
              <a:t>tkinter native file picker for Upload (Option 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956816"/>
            <a:ext cx="320040" cy="347472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1947672"/>
            <a:ext cx="3200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200">
                <a:solidFill>
                  <a:srgbClr val="1E1E2E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11096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200">
                <a:solidFill>
                  <a:srgbClr val="F9E2AF"/>
                </a:solidFill>
              </a:rPr>
              <a:t>tools.py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1911096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FFFFFF"/>
                </a:solidFill>
              </a:rPr>
              <a:t>Per-session log files: logs/&lt;session_id&gt;.log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432304"/>
            <a:ext cx="320040" cy="347472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2423160"/>
            <a:ext cx="3200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200">
                <a:solidFill>
                  <a:srgbClr val="1E1E2E"/>
                </a:solidFill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386584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200">
                <a:solidFill>
                  <a:srgbClr val="F9E2AF"/>
                </a:solidFill>
              </a:rPr>
              <a:t>tools.py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2386584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FFFFFF"/>
                </a:solidFill>
              </a:rPr>
              <a:t>All tool paths logged (LIST/EXACT/KEYWORD/FALLBACK/ERROR)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2907792"/>
            <a:ext cx="320040" cy="347472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2898648"/>
            <a:ext cx="3200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200">
                <a:solidFill>
                  <a:srgbClr val="1E1E2E"/>
                </a:solidFill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862072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200">
                <a:solidFill>
                  <a:srgbClr val="F9E2AF"/>
                </a:solidFill>
              </a:rPr>
              <a:t>agent.py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2862072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FFFFFF"/>
                </a:solidFill>
              </a:rPr>
              <a:t>_direct_retrieve() now logs its fallback calls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3383280"/>
            <a:ext cx="320040" cy="347472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3374136"/>
            <a:ext cx="3200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200">
                <a:solidFill>
                  <a:srgbClr val="1E1E2E"/>
                </a:solidFill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33756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200">
                <a:solidFill>
                  <a:srgbClr val="F9E2AF"/>
                </a:solidFill>
              </a:rPr>
              <a:t>assistant.py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4560" y="333756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FFFFFF"/>
                </a:solidFill>
              </a:rPr>
              <a:t>Full conversation history saved to sessions/&lt;uuid&gt;.json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3858768"/>
            <a:ext cx="320040" cy="347472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3849624"/>
            <a:ext cx="3200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200">
                <a:solidFill>
                  <a:srgbClr val="1E1E2E"/>
                </a:solidFill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3813048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200">
                <a:solidFill>
                  <a:srgbClr val="F9E2AF"/>
                </a:solidFill>
              </a:rPr>
              <a:t>prompts.py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94560" y="3813048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FFFFFF"/>
                </a:solidFill>
              </a:rPr>
              <a:t>MessagesPlaceholder added to all ChatPromptTemplates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4334256"/>
            <a:ext cx="320040" cy="347472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4325112"/>
            <a:ext cx="3200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200">
                <a:solidFill>
                  <a:srgbClr val="1E1E2E"/>
                </a:solidFill>
              </a:rP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288536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200">
                <a:solidFill>
                  <a:srgbClr val="F9E2AF"/>
                </a:solidFill>
              </a:rPr>
              <a:t>prompts.py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94560" y="4288536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FFFFFF"/>
                </a:solidFill>
              </a:rPr>
              <a:t>Intent prompt: 3 examples/category, confidence guide, tie-breaking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412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200">
                <a:solidFill>
                  <a:srgbClr val="74C7EC"/>
                </a:solidFill>
              </a:rPr>
              <a:t>AgentState — Full Field Listing (agent.py)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04672"/>
            <a:ext cx="8412480" cy="27432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868680"/>
            <a:ext cx="1554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100">
                <a:solidFill>
                  <a:srgbClr val="74C7EC"/>
                </a:solidFill>
              </a:rPr>
              <a:t>Field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868680"/>
            <a:ext cx="1188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100">
                <a:solidFill>
                  <a:srgbClr val="74C7EC"/>
                </a:solidFill>
              </a:rPr>
              <a:t>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68680"/>
            <a:ext cx="25603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100">
                <a:solidFill>
                  <a:srgbClr val="74C7EC"/>
                </a:solidFill>
              </a:rPr>
              <a:t>Reducer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868680"/>
            <a:ext cx="2926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100">
                <a:solidFill>
                  <a:srgbClr val="74C7EC"/>
                </a:solidFill>
              </a:rPr>
              <a:t>Purpose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07008"/>
            <a:ext cx="8595360" cy="36576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5272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F9E2AF"/>
                </a:solidFill>
              </a:rPr>
              <a:t>user_input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25272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AB387"/>
                </a:solidFill>
              </a:rPr>
              <a:t>str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125272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A6E3A1"/>
                </a:solidFill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125272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Current user message 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16459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F9E2AF"/>
                </a:solidFill>
              </a:rPr>
              <a:t>messages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16459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AB387"/>
                </a:solidFill>
              </a:rPr>
              <a:t>List[BaseMessage]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80" y="16459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A6E3A1"/>
                </a:solidFill>
              </a:rPr>
              <a:t>add_messages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16459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Full conversation history (append-only)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1993392"/>
            <a:ext cx="8595360" cy="36576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203911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F9E2AF"/>
                </a:solidFill>
              </a:rPr>
              <a:t>intent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2039112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AB387"/>
                </a:solidFill>
              </a:rPr>
              <a:t>UserIntent | None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2039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A6E3A1"/>
                </a:solidFill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2039112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Classified intent from classify_intent node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2432304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F9E2AF"/>
                </a:solidFill>
              </a:rPr>
              <a:t>next_step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2432304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AB387"/>
                </a:solidFill>
              </a:rPr>
              <a:t>str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243230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A6E3A1"/>
                </a:solidFill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720" y="2432304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Target node name for routing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779776"/>
            <a:ext cx="8595360" cy="36576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2825496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F9E2AF"/>
                </a:solidFill>
              </a:rPr>
              <a:t>conversation_summary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2825496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AB387"/>
                </a:solidFill>
              </a:rPr>
              <a:t>str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54680" y="282549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A6E3A1"/>
                </a:solidFill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720" y="2825496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LLM-generated rolling summary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" y="32186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F9E2AF"/>
                </a:solidFill>
              </a:rPr>
              <a:t>active_documents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32186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AB387"/>
                </a:solidFill>
              </a:rPr>
              <a:t>List[str]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54680" y="321868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A6E3A1"/>
                </a:solidFill>
              </a:rP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720" y="32186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Document IDs referenced across turns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566160"/>
            <a:ext cx="8595360" cy="36576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" y="361188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F9E2AF"/>
                </a:solidFill>
              </a:rPr>
              <a:t>current_response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36118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AB387"/>
                </a:solidFill>
              </a:rPr>
              <a:t>Pydantic | None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54680" y="3611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A6E3A1"/>
                </a:solidFill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60720" y="3611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Structured output from active agent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" y="400507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F9E2AF"/>
                </a:solidFill>
              </a:rPr>
              <a:t>tools_used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20240" y="4005072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AB387"/>
                </a:solidFill>
              </a:rPr>
              <a:t>List[str]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54680" y="400507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A6E3A1"/>
                </a:solidFill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60720" y="4005072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Tool names called this turn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" y="4352544"/>
            <a:ext cx="8595360" cy="36576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0040" y="4398264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F9E2AF"/>
                </a:solidFill>
              </a:rPr>
              <a:t>session_id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20240" y="4398264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AB387"/>
                </a:solidFill>
              </a:rPr>
              <a:t>str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54680" y="439826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A6E3A1"/>
                </a:solidFill>
              </a:rPr>
              <a:t>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60720" y="4398264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LangGraph thread_id for checkpointing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" y="4791456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F9E2AF"/>
                </a:solidFill>
              </a:rPr>
              <a:t>user_id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20240" y="4791456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AB387"/>
                </a:solidFill>
              </a:rPr>
              <a:t>str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54680" y="479145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A6E3A1"/>
                </a:solidFill>
              </a:rPr>
              <a:t>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60720" y="4791456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User identifier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5138928"/>
            <a:ext cx="8595360" cy="36576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20040" y="518464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F9E2AF"/>
                </a:solidFill>
              </a:rPr>
              <a:t>actions_taken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20240" y="518464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AB387"/>
                </a:solidFill>
              </a:rPr>
              <a:t>List[str]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54680" y="518464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A6E3A1"/>
                </a:solidFill>
              </a:rPr>
              <a:t>operator.add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760720" y="518464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</a:rPr>
              <a:t>Node names run this turn (accumulated)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412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200">
                <a:solidFill>
                  <a:srgbClr val="74C7EC"/>
                </a:solidFill>
              </a:rPr>
              <a:t>AgentState — Reducers Explained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04672"/>
            <a:ext cx="8412480" cy="27432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914400"/>
            <a:ext cx="8503920" cy="5212080"/>
          </a:xfrm>
          <a:prstGeom prst="rect">
            <a:avLst/>
          </a:prstGeom>
          <a:solidFill>
            <a:srgbClr val="11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9768" y="1005840"/>
            <a:ext cx="8284464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A6E3A1"/>
                </a:solidFill>
                <a:latin typeface="Courier New"/>
              </a:rPr>
              <a:t># Without a reducer — last write wins (default)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state["next_step"] = "qa_agent"          # classify_intent sets this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state["next_step"] = "summarization"     # update_memory overwrites it  ← lost!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# add_messages reducer — appends, never overwrites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messages: Annotated[List[BaseMessage], add_messages]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# Turn 1 result : [HumanMessage("Q1 revenue?"), AIMessage("$4.2M")]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# Turn 2 result : [HumanMessage("Q2 revenue?"), AIMessage("$5.1M")]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# State after 2 turns: ALL 4 messages preserved  ✓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# operator.add reducer — list concatenation across nodes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actions_taken: Annotated[List[str], operator.add]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# classify_intent returns : ["classify_intent"]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# qa_agent returns        : ["qa_agent"]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# update_memory returns   : ["update_memory"]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# Final state             : ["classify_intent", "qa_agent", "update_memory"]  ✓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# InMemorySaver — checkpoints full state after every node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workflow.compile(checkpointer=InMemorySaver())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# Same thread_id → state restored on next .invoke()  →  true multi-turn memory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412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200">
                <a:solidFill>
                  <a:srgbClr val="74C7EC"/>
                </a:solidFill>
              </a:rPr>
              <a:t>Tools — calculator &amp; document_reader (tools.py)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04672"/>
            <a:ext cx="8412480" cy="27432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9E2AF"/>
                </a:solidFill>
              </a:rPr>
              <a:t>🧮  calculator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80160"/>
            <a:ext cx="8503920" cy="1828800"/>
          </a:xfrm>
          <a:prstGeom prst="rect">
            <a:avLst/>
          </a:prstGeom>
          <a:solidFill>
            <a:srgbClr val="11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1371600"/>
            <a:ext cx="828446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A6E3A1"/>
                </a:solidFill>
                <a:latin typeface="Courier New"/>
              </a:rPr>
              <a:t>@tool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def calculator(expression: str) -&gt; str: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    # 1. Strip commas:        "4,200,000 + 5,100,000"  →  "4200000 + 5100000"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    # 2. Regex whitelist:     only  digits  + - * / ( ) . %  allowed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    # 3. Sandboxed eval():    eval(expr, {"__builtins__": {}}, {})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    # 4. Format result:       int-valued floats → "9,300,000"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    # 5. Log to session file: status = OK | INVALID_INPUT | ZERO_DIVISION | ERROR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    return "Result: 9,300,000  (expression: 4200000 + 5100000)"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320040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9E2AF"/>
                </a:solidFill>
              </a:rPr>
              <a:t>📄  document_reader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3566160"/>
            <a:ext cx="8503920" cy="1691640"/>
          </a:xfrm>
          <a:prstGeom prst="rect">
            <a:avLst/>
          </a:prstGeom>
          <a:solidFill>
            <a:srgbClr val="11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3657600"/>
            <a:ext cx="8284464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A6E3A1"/>
                </a:solidFill>
                <a:latin typeface="Courier New"/>
              </a:rPr>
              <a:t>@tool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def document_reader(query: str) -&gt; str: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    # Path 1  LIST        query = "list"         → returns all doc IDs + titles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    # Path 2  EXACT_MATCH query = "doc_financial_q2"  → returns full content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    # Path 3  KEYWORD     query = "revenue growth"    → keyword scored search (top 3)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    # Path 4  FALLBACK    no match found         → returns first 2 docs in store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    # Path 5  NO_MATCH    store is empty         → "No documents found"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    # All paths log to logs/&lt;session_id&gt;.log with status label + full output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5321808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DD6F4"/>
                </a:solidFill>
              </a:rPr>
              <a:t>Both tools are bound to the LLM via llm.bind_tools([calculator, document_reader])</a:t>
            </a:r>
          </a:p>
          <a:p>
            <a:pPr algn="l"/>
            <a:r>
              <a:rPr sz="1100" b="0">
                <a:solidFill>
                  <a:srgbClr val="CDD6F4"/>
                </a:solidFill>
              </a:rPr>
              <a:t>and invoked inside _run_tool_loop() when the LLM returns a tool_calls response.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412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200">
                <a:solidFill>
                  <a:srgbClr val="74C7EC"/>
                </a:solidFill>
              </a:rPr>
              <a:t>Tool Calling Loop — _run_tool_loop()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04672"/>
            <a:ext cx="8412480" cy="27432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914400"/>
            <a:ext cx="8503920" cy="3931920"/>
          </a:xfrm>
          <a:prstGeom prst="rect">
            <a:avLst/>
          </a:prstGeom>
          <a:solidFill>
            <a:srgbClr val="11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9768" y="1005840"/>
            <a:ext cx="8284464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A6E3A1"/>
                </a:solidFill>
                <a:latin typeface="Courier New"/>
              </a:rPr>
              <a:t>def _run_tool_loop(llm_with_tools, tool_map, messages, max_iter=5):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    tools_used      = []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    context_snippets = []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    for _ in range(max_iter):          # max 5 iterations (8 for calculation_agent)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        response = llm_with_tools.invoke(messages)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        messages.append(response)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        if not response.tool_calls:    # LLM finished — no more tool calls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            break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        for tc in response.tool_calls: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            name   = tc["name"]        # e.g. "document_reader"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            result = tool_map[name].invoke(tc["args"])   # runs the tool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            tools_used.append(name)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            context_snippets.append(str(result))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            messages.append(ToolMessage(content=result, tool_call_id=tc["id"]))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    return messages, tools_used, context_snippets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# If context_snippets is still empty after the loop: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if not context_snippets: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    context_snippets = _direct_retrieve(state["user_input"])</a:t>
            </a:r>
          </a:p>
          <a:p>
            <a:r>
              <a:rPr sz="1050">
                <a:solidFill>
                  <a:srgbClr val="A6E3A1"/>
                </a:solidFill>
                <a:latin typeface="Courier New"/>
              </a:rPr>
              <a:t>    # → searches retriever directly and logs a FALLBACK entry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4937760"/>
            <a:ext cx="8503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DD6F4"/>
                </a:solidFill>
              </a:rPr>
              <a:t>Each tool result becomes a ToolMessage appended to the message chain so the LLM sees it in the next iteration.</a:t>
            </a:r>
          </a:p>
          <a:p>
            <a:pPr algn="l"/>
            <a:r>
              <a:rPr sz="1100" b="0">
                <a:solidFill>
                  <a:srgbClr val="CDD6F4"/>
                </a:solidFill>
              </a:rPr>
              <a:t>After the loop, context_snippets feeds the Phase 2 structured-output call.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412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200">
                <a:solidFill>
                  <a:srgbClr val="74C7EC"/>
                </a:solidFill>
              </a:rPr>
              <a:t>All 5 Agent Nodes — Listing &amp; Role (agent.py)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04672"/>
            <a:ext cx="8412480" cy="27432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8595360" cy="877824"/>
          </a:xfrm>
          <a:prstGeom prst="rect">
            <a:avLst/>
          </a:prstGeom>
          <a:solidFill>
            <a:srgbClr val="222238"/>
          </a:solidFill>
          <a:ln w="12700">
            <a:solidFill>
              <a:srgbClr val="74C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1188720"/>
            <a:ext cx="256032" cy="256032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1188720"/>
            <a:ext cx="25603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000">
                <a:solidFill>
                  <a:srgbClr val="1E1E2E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43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4C7EC"/>
                </a:solidFill>
                <a:latin typeface="Courier New"/>
              </a:rPr>
              <a:t>classify_intent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987552"/>
            <a:ext cx="6172200" cy="70234698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WHEN: Entry point — every message</a:t>
            </a:r>
          </a:p>
          <a:p>
            <a:pPr algn="l"/>
            <a:r>
              <a:rPr sz="1050" b="0">
                <a:solidFill>
                  <a:srgbClr val="FFFFFF"/>
                </a:solidFill>
              </a:rPr>
              <a:t>DOES: Calls llm.with_structured_output(UserIntent) with the enriched</a:t>
            </a:r>
          </a:p>
          <a:p>
            <a:pPr algn="l"/>
            <a:r>
              <a:rPr sz="1050" b="0">
                <a:solidFill>
                  <a:srgbClr val="FFFFFF"/>
                </a:solidFill>
              </a:rPr>
              <a:t>      intent classification prompt + last 6 messages as history.</a:t>
            </a:r>
          </a:p>
          <a:p>
            <a:pPr algn="l"/>
            <a:r>
              <a:rPr sz="1050" b="0">
                <a:solidFill>
                  <a:srgbClr val="FFFFFF"/>
                </a:solidFill>
              </a:rPr>
              <a:t>OUT:  intent_type, confidence, reasoning → sets next_step for routing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847088"/>
            <a:ext cx="8595360" cy="877824"/>
          </a:xfrm>
          <a:prstGeom prst="rect">
            <a:avLst/>
          </a:prstGeom>
          <a:solidFill>
            <a:srgbClr val="222238"/>
          </a:solidFill>
          <a:ln w="12700">
            <a:solidFill>
              <a:srgbClr val="A6E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" y="2121408"/>
            <a:ext cx="256032" cy="256032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" y="2121408"/>
            <a:ext cx="25603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000">
                <a:solidFill>
                  <a:srgbClr val="1E1E2E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7568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6E3A1"/>
                </a:solidFill>
                <a:latin typeface="Courier New"/>
              </a:rPr>
              <a:t>qa_agent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1920240"/>
            <a:ext cx="6172200" cy="70234698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WHEN: intent_type == 'qa'</a:t>
            </a:r>
          </a:p>
          <a:p>
            <a:pPr algn="l"/>
            <a:r>
              <a:rPr sz="1050" b="0">
                <a:solidFill>
                  <a:srgbClr val="FFFFFF"/>
                </a:solidFill>
              </a:rPr>
              <a:t>DOES: Tool loop with document_reader → Phase 2 with AnswerResponse.</a:t>
            </a:r>
          </a:p>
          <a:p>
            <a:pPr algn="l"/>
            <a:r>
              <a:rPr sz="1050" b="0">
                <a:solidFill>
                  <a:srgbClr val="FFFFFF"/>
                </a:solidFill>
              </a:rPr>
              <a:t>      Injects _available_docs_hint() so LLM knows all doc IDs.</a:t>
            </a:r>
          </a:p>
          <a:p>
            <a:pPr algn="l"/>
            <a:r>
              <a:rPr sz="1050" b="0">
                <a:solidFill>
                  <a:srgbClr val="FFFFFF"/>
                </a:solidFill>
              </a:rPr>
              <a:t>OUT:  AnswerResponse(question, answer, sources, confidence)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779776"/>
            <a:ext cx="8595360" cy="877824"/>
          </a:xfrm>
          <a:prstGeom prst="rect">
            <a:avLst/>
          </a:prstGeom>
          <a:solidFill>
            <a:srgbClr val="222238"/>
          </a:solidFill>
          <a:ln w="12700">
            <a:solidFill>
              <a:srgbClr val="F9E2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472" y="3054096"/>
            <a:ext cx="256032" cy="256032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3054096"/>
            <a:ext cx="25603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000">
                <a:solidFill>
                  <a:srgbClr val="1E1E2E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08376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9E2AF"/>
                </a:solidFill>
                <a:latin typeface="Courier New"/>
              </a:rPr>
              <a:t>summarization_agent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2852928"/>
            <a:ext cx="6172200" cy="70234698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WHEN: intent_type == 'summarization'</a:t>
            </a:r>
          </a:p>
          <a:p>
            <a:pPr algn="l"/>
            <a:r>
              <a:rPr sz="1050" b="0">
                <a:solidFill>
                  <a:srgbClr val="FFFFFF"/>
                </a:solidFill>
              </a:rPr>
              <a:t>DOES: Tool loop retrieves document → Phase 2 with SummarizationResponse.</a:t>
            </a:r>
          </a:p>
          <a:p>
            <a:pPr algn="l"/>
            <a:r>
              <a:rPr sz="1050" b="0">
                <a:solidFill>
                  <a:srgbClr val="FFFFFF"/>
                </a:solidFill>
              </a:rPr>
              <a:t>      Extracts 3–7 key points from document content.</a:t>
            </a:r>
          </a:p>
          <a:p>
            <a:pPr algn="l"/>
            <a:r>
              <a:rPr sz="1050" b="0">
                <a:solidFill>
                  <a:srgbClr val="FFFFFF"/>
                </a:solidFill>
              </a:rPr>
              <a:t>OUT:  SummarizationResponse(summary, key_points, sources)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712464"/>
            <a:ext cx="8595360" cy="877824"/>
          </a:xfrm>
          <a:prstGeom prst="rect">
            <a:avLst/>
          </a:prstGeom>
          <a:solidFill>
            <a:srgbClr val="222238"/>
          </a:solidFill>
          <a:ln w="12700">
            <a:solidFill>
              <a:srgbClr val="FAB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7472" y="3986784"/>
            <a:ext cx="256032" cy="256032"/>
          </a:xfrm>
          <a:prstGeom prst="rect">
            <a:avLst/>
          </a:prstGeom>
          <a:solidFill>
            <a:srgbClr val="FAB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3986784"/>
            <a:ext cx="25603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000">
                <a:solidFill>
                  <a:srgbClr val="1E1E2E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941064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AB387"/>
                </a:solidFill>
                <a:latin typeface="Courier New"/>
              </a:rPr>
              <a:t>calculation_agent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3785616"/>
            <a:ext cx="6172200" cy="70234698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WHEN: intent_type == 'calculation'</a:t>
            </a:r>
          </a:p>
          <a:p>
            <a:pPr algn="l"/>
            <a:r>
              <a:rPr sz="1050" b="0">
                <a:solidFill>
                  <a:srgbClr val="FFFFFF"/>
                </a:solidFill>
              </a:rPr>
              <a:t>DOES: Tool loop (max 8 iter) — calls document_reader then calculator.</a:t>
            </a:r>
          </a:p>
          <a:p>
            <a:pPr algn="l"/>
            <a:r>
              <a:rPr sz="1050" b="0">
                <a:solidFill>
                  <a:srgbClr val="FFFFFF"/>
                </a:solidFill>
              </a:rPr>
              <a:t>      Phase 2 with CalculationResponse including the expression used.</a:t>
            </a:r>
          </a:p>
          <a:p>
            <a:pPr algn="l"/>
            <a:r>
              <a:rPr sz="1050" b="0">
                <a:solidFill>
                  <a:srgbClr val="FFFFFF"/>
                </a:solidFill>
              </a:rPr>
              <a:t>OUT:  CalculationResponse(question, result, expression, sources)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645152"/>
            <a:ext cx="8595360" cy="877824"/>
          </a:xfrm>
          <a:prstGeom prst="rect">
            <a:avLst/>
          </a:prstGeom>
          <a:solidFill>
            <a:srgbClr val="222238"/>
          </a:solidFill>
          <a:ln w="12700">
            <a:solidFill>
              <a:srgbClr val="CBA6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7472" y="4919472"/>
            <a:ext cx="256032" cy="256032"/>
          </a:xfrm>
          <a:prstGeom prst="rect">
            <a:avLst/>
          </a:prstGeom>
          <a:solidFill>
            <a:srgbClr val="CBA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4919472"/>
            <a:ext cx="25603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000">
                <a:solidFill>
                  <a:srgbClr val="1E1E2E"/>
                </a:solidFill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87375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BA6F7"/>
                </a:solidFill>
                <a:latin typeface="Courier New"/>
              </a:rPr>
              <a:t>update_memory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06040" y="4718304"/>
            <a:ext cx="6172200" cy="70234698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WHEN: After any specialist agent — always the last node before END</a:t>
            </a:r>
          </a:p>
          <a:p>
            <a:pPr algn="l"/>
            <a:r>
              <a:rPr sz="1050" b="0">
                <a:solidFill>
                  <a:srgbClr val="FFFFFF"/>
                </a:solidFill>
              </a:rPr>
              <a:t>DOES: LLM writes 1–2 sentence conversation summary. Tracks active_documents</a:t>
            </a:r>
          </a:p>
          <a:p>
            <a:pPr algn="l"/>
            <a:r>
              <a:rPr sz="1050" b="0">
                <a:solidFill>
                  <a:srgbClr val="FFFFFF"/>
                </a:solidFill>
              </a:rPr>
              <a:t>      by reading sources from current_response. Sets next_step = END.</a:t>
            </a:r>
          </a:p>
          <a:p>
            <a:pPr algn="l"/>
            <a:r>
              <a:rPr sz="1050" b="0">
                <a:solidFill>
                  <a:srgbClr val="FFFFFF"/>
                </a:solidFill>
              </a:rPr>
              <a:t>OUT:  conversation_summary, active_documents updated in state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412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200">
                <a:solidFill>
                  <a:srgbClr val="74C7EC"/>
                </a:solidFill>
              </a:rPr>
              <a:t>LangGraph Routing — Edges &amp; Conditional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04672"/>
            <a:ext cx="8412480" cy="27432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914400"/>
            <a:ext cx="8503920" cy="5212080"/>
          </a:xfrm>
          <a:prstGeom prst="rect">
            <a:avLst/>
          </a:prstGeom>
          <a:solidFill>
            <a:srgbClr val="11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9768" y="1005840"/>
            <a:ext cx="8284464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A6E3A1"/>
                </a:solidFill>
                <a:latin typeface="Courier New"/>
              </a:rPr>
              <a:t>                        ┌─────────────────────────┐</a:t>
            </a:r>
          </a:p>
          <a:p>
            <a:r>
              <a:rPr sz="1000">
                <a:solidFill>
                  <a:srgbClr val="A6E3A1"/>
                </a:solidFill>
                <a:latin typeface="Courier New"/>
              </a:rPr>
              <a:t>                        │   User sends a message   │</a:t>
            </a:r>
          </a:p>
          <a:p>
            <a:r>
              <a:rPr sz="1000">
                <a:solidFill>
                  <a:srgbClr val="A6E3A1"/>
                </a:solidFill>
                <a:latin typeface="Courier New"/>
              </a:rPr>
              <a:t>                        └────────────┬────────────┘</a:t>
            </a:r>
          </a:p>
          <a:p>
            <a:r>
              <a:rPr sz="1000">
                <a:solidFill>
                  <a:srgbClr val="A6E3A1"/>
                </a:solidFill>
                <a:latin typeface="Courier New"/>
              </a:rPr>
              <a:t>                                     │</a:t>
            </a:r>
          </a:p>
          <a:p>
            <a:r>
              <a:rPr sz="1000">
                <a:solidFill>
                  <a:srgbClr val="A6E3A1"/>
                </a:solidFill>
                <a:latin typeface="Courier New"/>
              </a:rPr>
              <a:t>                                     ▼</a:t>
            </a:r>
          </a:p>
          <a:p>
            <a:r>
              <a:rPr sz="1000">
                <a:solidFill>
                  <a:srgbClr val="A6E3A1"/>
                </a:solidFill>
                <a:latin typeface="Courier New"/>
              </a:rPr>
              <a:t>                          ┌──────────────────────┐</a:t>
            </a:r>
          </a:p>
          <a:p>
            <a:r>
              <a:rPr sz="1000">
                <a:solidFill>
                  <a:srgbClr val="A6E3A1"/>
                </a:solidFill>
                <a:latin typeface="Courier New"/>
              </a:rPr>
              <a:t>                          │   classify_intent     │  ← Entry Point</a:t>
            </a:r>
          </a:p>
          <a:p>
            <a:r>
              <a:rPr sz="1000">
                <a:solidFill>
                  <a:srgbClr val="A6E3A1"/>
                </a:solidFill>
                <a:latin typeface="Courier New"/>
              </a:rPr>
              <a:t>                          │   (UserIntent schema) │</a:t>
            </a:r>
          </a:p>
          <a:p>
            <a:r>
              <a:rPr sz="1000">
                <a:solidFill>
                  <a:srgbClr val="A6E3A1"/>
                </a:solidFill>
                <a:latin typeface="Courier New"/>
              </a:rPr>
              <a:t>                          └──────────┬───────────┘</a:t>
            </a:r>
          </a:p>
          <a:p>
            <a:r>
              <a:rPr sz="1000">
                <a:solidFill>
                  <a:srgbClr val="A6E3A1"/>
                </a:solidFill>
                <a:latin typeface="Courier New"/>
              </a:rPr>
              <a:t>                                     │</a:t>
            </a:r>
          </a:p>
          <a:p>
            <a:r>
              <a:rPr sz="1000">
                <a:solidFill>
                  <a:srgbClr val="A6E3A1"/>
                </a:solidFill>
                <a:latin typeface="Courier New"/>
              </a:rPr>
              <a:t>               ┌─────────────────────┼──────────────────────┐</a:t>
            </a:r>
          </a:p>
          <a:p>
            <a:r>
              <a:rPr sz="1000">
                <a:solidFill>
                  <a:srgbClr val="A6E3A1"/>
                </a:solidFill>
                <a:latin typeface="Courier New"/>
              </a:rPr>
              <a:t>               │ intent="qa"         │ intent="summarization" │ intent="calculation"</a:t>
            </a:r>
          </a:p>
          <a:p>
            <a:r>
              <a:rPr sz="1000">
                <a:solidFill>
                  <a:srgbClr val="A6E3A1"/>
                </a:solidFill>
                <a:latin typeface="Courier New"/>
              </a:rPr>
              <a:t>               ▼                     ▼                        ▼</a:t>
            </a:r>
          </a:p>
          <a:p>
            <a:r>
              <a:rPr sz="1000">
                <a:solidFill>
                  <a:srgbClr val="A6E3A1"/>
                </a:solidFill>
                <a:latin typeface="Courier New"/>
              </a:rPr>
              <a:t>       ┌──────────────┐   ┌─────────────────────┐   ┌──────────────────────┐</a:t>
            </a:r>
          </a:p>
          <a:p>
            <a:r>
              <a:rPr sz="1000">
                <a:solidFill>
                  <a:srgbClr val="A6E3A1"/>
                </a:solidFill>
                <a:latin typeface="Courier New"/>
              </a:rPr>
              <a:t>       │   qa_agent   │   │ summarization_agent  │   │  calculation_agent   │</a:t>
            </a:r>
          </a:p>
          <a:p>
            <a:r>
              <a:rPr sz="1000">
                <a:solidFill>
                  <a:srgbClr val="A6E3A1"/>
                </a:solidFill>
                <a:latin typeface="Courier New"/>
              </a:rPr>
              <a:t>       │  AnswerResp  │   │ SummarizationResp    │   │  CalculationResp     │</a:t>
            </a:r>
          </a:p>
          <a:p>
            <a:r>
              <a:rPr sz="1000">
                <a:solidFill>
                  <a:srgbClr val="A6E3A1"/>
                </a:solidFill>
                <a:latin typeface="Courier New"/>
              </a:rPr>
              <a:t>       └──────┬───────┘   └──────────┬──────────┘   └──────────┬───────────┘</a:t>
            </a:r>
          </a:p>
          <a:p>
            <a:r>
              <a:rPr sz="1000">
                <a:solidFill>
                  <a:srgbClr val="A6E3A1"/>
                </a:solidFill>
                <a:latin typeface="Courier New"/>
              </a:rPr>
              <a:t>              │                      │                           │</a:t>
            </a:r>
          </a:p>
          <a:p>
            <a:r>
              <a:rPr sz="1000">
                <a:solidFill>
                  <a:srgbClr val="A6E3A1"/>
                </a:solidFill>
                <a:latin typeface="Courier New"/>
              </a:rPr>
              <a:t>              └──────────────────────┼───────────────────────────┘</a:t>
            </a:r>
          </a:p>
          <a:p>
            <a:r>
              <a:rPr sz="1000">
                <a:solidFill>
                  <a:srgbClr val="A6E3A1"/>
                </a:solidFill>
                <a:latin typeface="Courier New"/>
              </a:rPr>
              <a:t>                                     │</a:t>
            </a:r>
          </a:p>
          <a:p>
            <a:r>
              <a:rPr sz="1000">
                <a:solidFill>
                  <a:srgbClr val="A6E3A1"/>
                </a:solidFill>
                <a:latin typeface="Courier New"/>
              </a:rPr>
              <a:t>                                     ▼</a:t>
            </a:r>
          </a:p>
          <a:p>
            <a:r>
              <a:rPr sz="1000">
                <a:solidFill>
                  <a:srgbClr val="A6E3A1"/>
                </a:solidFill>
                <a:latin typeface="Courier New"/>
              </a:rPr>
              <a:t>                           ┌──────────────────┐</a:t>
            </a:r>
          </a:p>
          <a:p>
            <a:r>
              <a:rPr sz="1000">
                <a:solidFill>
                  <a:srgbClr val="A6E3A1"/>
                </a:solidFill>
                <a:latin typeface="Courier New"/>
              </a:rPr>
              <a:t>                           │  update_memory   │  ← Always runs last</a:t>
            </a:r>
          </a:p>
          <a:p>
            <a:r>
              <a:rPr sz="1000">
                <a:solidFill>
                  <a:srgbClr val="A6E3A1"/>
                </a:solidFill>
                <a:latin typeface="Courier New"/>
              </a:rPr>
              <a:t>                           │  (summary + docs)│</a:t>
            </a:r>
          </a:p>
          <a:p>
            <a:r>
              <a:rPr sz="1000">
                <a:solidFill>
                  <a:srgbClr val="A6E3A1"/>
                </a:solidFill>
                <a:latin typeface="Courier New"/>
              </a:rPr>
              <a:t>                           └────────┬─────────┘</a:t>
            </a:r>
          </a:p>
          <a:p>
            <a:r>
              <a:rPr sz="1000">
                <a:solidFill>
                  <a:srgbClr val="A6E3A1"/>
                </a:solidFill>
                <a:latin typeface="Courier New"/>
              </a:rPr>
              <a:t>                                    │</a:t>
            </a:r>
          </a:p>
          <a:p>
            <a:r>
              <a:rPr sz="1000">
                <a:solidFill>
                  <a:srgbClr val="A6E3A1"/>
                </a:solidFill>
                <a:latin typeface="Courier New"/>
              </a:rPr>
              <a:t>                                    ▼</a:t>
            </a:r>
          </a:p>
          <a:p>
            <a:r>
              <a:rPr sz="1000">
                <a:solidFill>
                  <a:srgbClr val="A6E3A1"/>
                </a:solidFill>
                <a:latin typeface="Courier New"/>
              </a:rPr>
              <a:t>                                   END</a:t>
            </a:r>
          </a:p>
          <a:p>
            <a:r>
              <a:rPr sz="1000">
                <a:solidFill>
                  <a:srgbClr val="A6E3A1"/>
                </a:solidFill>
                <a:latin typeface="Courier New"/>
              </a:rPr>
              <a:t/>
            </a:r>
          </a:p>
          <a:p>
            <a:r>
              <a:rPr sz="1000">
                <a:solidFill>
                  <a:srgbClr val="A6E3A1"/>
                </a:solidFill>
                <a:latin typeface="Courier New"/>
              </a:rPr>
              <a:t/>
            </a:r>
          </a:p>
          <a:p>
            <a:r>
              <a:rPr sz="1000">
                <a:solidFill>
                  <a:srgbClr val="A6E3A1"/>
                </a:solidFill>
                <a:latin typeface="Courier New"/>
              </a:rPr>
              <a:t>Graph compiled with: workflow.compile(checkpointer=InMemorySaver())</a:t>
            </a:r>
          </a:p>
          <a:p>
            <a:r>
              <a:rPr sz="1000">
                <a:solidFill>
                  <a:srgbClr val="A6E3A1"/>
                </a:solidFill>
                <a:latin typeface="Courier New"/>
              </a:rPr>
              <a:t>Routing function:    _route_to_agent(state) → returns state["next_step"]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2026-10-04T05:14:45Z</dcterms:created>
  <dcterms:modified xsi:type="dcterms:W3CDTF">2026-10-04T05:14:45Z</dcterms:modified>
</cp:coreProperties>
</file>