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2011680"/>
            <a:ext cx="4572000" cy="4572000"/>
          </a:xfrm>
          <a:prstGeom prst="ellipse">
            <a:avLst/>
          </a:prstGeom>
          <a:solidFill>
            <a:srgbClr val="3A6B48"/>
          </a:solidFill>
          <a:ln w="12700">
            <a:solidFill>
              <a:srgbClr val="3A6B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914400"/>
            <a:ext cx="1645920" cy="16459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8686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⚡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91440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EcoHome Energy Advisor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20116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Real-World Data Files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926080" y="2743200"/>
            <a:ext cx="5120640" cy="0"/>
          </a:xfrm>
          <a:prstGeom prst="line">
            <a:avLst/>
          </a:prstGeom>
          <a:noFill/>
          <a:ln w="19050">
            <a:solidFill>
              <a:srgbClr val="4A7C5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26080" y="28803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LangGraph  ·  OpenAI GPT-4o  ·  ChromaDB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48920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" y="48920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EcoHome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7F2"/>
          </a:solidFill>
          <a:ln w="12700">
            <a:solidFill>
              <a:srgbClr val="F9F7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5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Real Data Matters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965960" cy="3108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5548" y="1024128"/>
            <a:ext cx="694944" cy="69494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55548" y="99669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🚫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29768" y="1828800"/>
            <a:ext cx="1746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Data Has Limits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29768" y="2359152"/>
            <a:ext cx="1746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seed data is great for demos — real savings only come from YOUR actual energy profile.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77440" y="914400"/>
            <a:ext cx="1965960" cy="3108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2948" y="1024128"/>
            <a:ext cx="694944" cy="694944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12948" y="99669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📂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2487168" y="1828800"/>
            <a:ext cx="1746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You Already Have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487168" y="2359152"/>
            <a:ext cx="1746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bills, solar inverter exports, EV charge logs, and smart meter CSVs are all waiting in your portal.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914400"/>
            <a:ext cx="1965960" cy="3108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70348" y="1024128"/>
            <a:ext cx="694944" cy="694944"/>
          </a:xfrm>
          <a:prstGeom prst="ellipse">
            <a:avLst/>
          </a:prstGeom>
          <a:solidFill>
            <a:srgbClr val="3A6B48"/>
          </a:solidFill>
          <a:ln w="12700">
            <a:solidFill>
              <a:srgbClr val="3A6B4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70348" y="99669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4544568" y="1828800"/>
            <a:ext cx="1746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Real Ingestion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44568" y="2359152"/>
            <a:ext cx="1746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EcoHome pipeline accepts CSV, JSON, and document files and maps them to the same DB tables from Day 1.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914400"/>
            <a:ext cx="1965960" cy="3108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27748" y="1024128"/>
            <a:ext cx="694944" cy="694944"/>
          </a:xfrm>
          <a:prstGeom prst="ellipse">
            <a:avLst/>
          </a:prstGeom>
          <a:solidFill>
            <a:srgbClr val="C47F00"/>
          </a:solidFill>
          <a:ln w="12700">
            <a:solidFill>
              <a:srgbClr val="C47F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27748" y="99669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6601968" y="1828800"/>
            <a:ext cx="1746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Data = Real Savings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601968" y="2359152"/>
            <a:ext cx="1746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recommendations based on your actual usage patterns and your utility's exact rate schedule.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74320" y="48920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EcoHome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48920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7F2"/>
          </a:solidFill>
          <a:ln w="12700">
            <a:solidFill>
              <a:srgbClr val="F9F7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5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Supported External File Sources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92608" y="914400"/>
            <a:ext cx="2011680" cy="33375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91440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" y="1325880"/>
            <a:ext cx="2011680" cy="2743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" y="9326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🏢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86968" y="1024128"/>
            <a:ext cx="1325880" cy="256032"/>
          </a:xfrm>
          <a:prstGeom prst="roundRect">
            <a:avLst>
              <a:gd name="adj" fmla="val 17857"/>
            </a:avLst>
          </a:prstGeom>
          <a:solidFill>
            <a:srgbClr val="FFF3CD"/>
          </a:solidFill>
          <a:ln w="6350">
            <a:solidFill>
              <a:srgbClr val="F0A5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86968" y="1024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· JSON · XML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84048" y="16642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Utility / Smart Meter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" y="21214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" y="23225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PG&amp;E, ComEd, SCE portal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" y="2807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Contains: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" y="30083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kWh, cost/interval, meter ID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" y="34930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" y="36941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energy_usage + electricity_price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68296" y="914400"/>
            <a:ext cx="2011680" cy="33375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68296" y="91440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68296" y="1325880"/>
            <a:ext cx="2011680" cy="2743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414016" y="9326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☀️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2962656" y="1024128"/>
            <a:ext cx="1325880" cy="256032"/>
          </a:xfrm>
          <a:prstGeom prst="roundRect">
            <a:avLst>
              <a:gd name="adj" fmla="val 17857"/>
            </a:avLst>
          </a:prstGeom>
          <a:solidFill>
            <a:srgbClr val="FFF3CD"/>
          </a:solidFill>
          <a:ln w="635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962656" y="1024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· JSON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2459736" y="16642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 Inverter Data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459736" y="21214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2459736" y="23225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SolarEdge, Enphase, Fronius, SMA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2459736" y="2807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Contains: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2459736" y="30083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generation kWh, DC power, temp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2459736" y="34930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2459736" y="36941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solar_generation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43984" y="914400"/>
            <a:ext cx="2011680" cy="33375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43984" y="91440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3A6B48"/>
          </a:solidFill>
          <a:ln w="12700">
            <a:solidFill>
              <a:srgbClr val="3A6B4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43984" y="1325880"/>
            <a:ext cx="2011680" cy="274320"/>
          </a:xfrm>
          <a:prstGeom prst="rect">
            <a:avLst/>
          </a:prstGeom>
          <a:solidFill>
            <a:srgbClr val="3A6B48"/>
          </a:solidFill>
          <a:ln w="12700">
            <a:solidFill>
              <a:srgbClr val="3A6B4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489704" y="9326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🚗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5038344" y="1024128"/>
            <a:ext cx="1325880" cy="256032"/>
          </a:xfrm>
          <a:prstGeom prst="roundRect">
            <a:avLst>
              <a:gd name="adj" fmla="val 17857"/>
            </a:avLst>
          </a:prstGeom>
          <a:solidFill>
            <a:srgbClr val="FFF3CD"/>
          </a:solidFill>
          <a:ln w="6350">
            <a:solidFill>
              <a:srgbClr val="F0A50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038344" y="1024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· JSON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4535424" y="16642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Charge Logs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4535424" y="21214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4535424" y="23225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ChargePoint, Tesla, Wallbox, JuiceBox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535424" y="2807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Contains: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4535424" y="30083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kWh, start/end, cost, rate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4535424" y="34930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35424" y="36941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energy_usage (EV category)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519672" y="914400"/>
            <a:ext cx="2011680" cy="33375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19672" y="91440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C47F00"/>
          </a:solidFill>
          <a:ln w="12700">
            <a:solidFill>
              <a:srgbClr val="C47F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19672" y="1325880"/>
            <a:ext cx="2011680" cy="274320"/>
          </a:xfrm>
          <a:prstGeom prst="rect">
            <a:avLst/>
          </a:prstGeom>
          <a:solidFill>
            <a:srgbClr val="C47F00"/>
          </a:solidFill>
          <a:ln w="12700">
            <a:solidFill>
              <a:srgbClr val="C47F0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565392" y="9326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48" name="Shape 46"/>
          <p:cNvSpPr/>
          <p:nvPr/>
        </p:nvSpPr>
        <p:spPr>
          <a:xfrm>
            <a:off x="7114032" y="1024128"/>
            <a:ext cx="1325880" cy="256032"/>
          </a:xfrm>
          <a:prstGeom prst="roundRect">
            <a:avLst>
              <a:gd name="adj" fmla="val 17857"/>
            </a:avLst>
          </a:prstGeom>
          <a:solidFill>
            <a:srgbClr val="FFF3CD"/>
          </a:solidFill>
          <a:ln w="6350">
            <a:solidFill>
              <a:srgbClr val="F0A50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114032" y="1024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.txt · .pdf · .docx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6611112" y="16642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Documents (RAG)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6611112" y="21214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6611112" y="23225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Manuals, audit reports, rate schedules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6611112" y="2807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Contains: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6611112" y="30083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Tips, device specs, local rates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6611112" y="34930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6611112" y="36941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vectorstore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274320" y="48920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EcoHome</a:t>
            </a:r>
            <a:endParaRPr lang="en-US" sz="800" dirty="0"/>
          </a:p>
        </p:txBody>
      </p:sp>
      <p:sp>
        <p:nvSpPr>
          <p:cNvPr id="58" name="Text 56"/>
          <p:cNvSpPr txBox="1"/>
          <p:nvPr/>
        </p:nvSpPr>
        <p:spPr>
          <a:xfrm>
            <a:off x="8046720" y="48920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7F2"/>
          </a:solidFill>
          <a:ln w="12700">
            <a:solidFill>
              <a:srgbClr val="F9F7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5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External Files Enter the System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22376" y="1280160"/>
            <a:ext cx="1005840" cy="1371600"/>
          </a:xfrm>
          <a:prstGeom prst="roundRect">
            <a:avLst>
              <a:gd name="adj" fmla="val 7273"/>
            </a:avLst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932688"/>
            <a:ext cx="365760" cy="36576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42416" y="932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1371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1810512"/>
            <a:ext cx="932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22376" y="27432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CSV/JSON/TXT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737360" y="1965960"/>
            <a:ext cx="91440" cy="0"/>
          </a:xfrm>
          <a:prstGeom prst="line">
            <a:avLst/>
          </a:prstGeom>
          <a:noFill/>
          <a:ln w="19050">
            <a:solidFill>
              <a:srgbClr val="3A6B48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1837944" y="1280160"/>
            <a:ext cx="1005840" cy="1371600"/>
          </a:xfrm>
          <a:prstGeom prst="roundRect">
            <a:avLst>
              <a:gd name="adj" fmla="val 7273"/>
            </a:avLst>
          </a:prstGeom>
          <a:solidFill>
            <a:srgbClr val="3A6B48"/>
          </a:solidFill>
          <a:ln w="12700">
            <a:solidFill>
              <a:srgbClr val="3A6B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57984" y="932688"/>
            <a:ext cx="365760" cy="36576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57984" y="932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883664" y="1371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874520" y="1810512"/>
            <a:ext cx="932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837944" y="27432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detection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852928" y="1965960"/>
            <a:ext cx="91440" cy="0"/>
          </a:xfrm>
          <a:prstGeom prst="line">
            <a:avLst/>
          </a:prstGeom>
          <a:noFill/>
          <a:ln w="19050">
            <a:solidFill>
              <a:srgbClr val="3A6B48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2953512" y="1280160"/>
            <a:ext cx="1005840" cy="1371600"/>
          </a:xfrm>
          <a:prstGeom prst="roundRect">
            <a:avLst>
              <a:gd name="adj" fmla="val 7273"/>
            </a:avLst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73552" y="932688"/>
            <a:ext cx="365760" cy="36576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73552" y="932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999232" y="1371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✔️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2990088" y="1810512"/>
            <a:ext cx="932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953512" y="27432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&amp; units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968496" y="1965960"/>
            <a:ext cx="91440" cy="0"/>
          </a:xfrm>
          <a:prstGeom prst="line">
            <a:avLst/>
          </a:prstGeom>
          <a:noFill/>
          <a:ln w="19050">
            <a:solidFill>
              <a:srgbClr val="3A6B48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4069080" y="1280160"/>
            <a:ext cx="1005840" cy="1371600"/>
          </a:xfrm>
          <a:prstGeom prst="roundRect">
            <a:avLst>
              <a:gd name="adj" fmla="val 7273"/>
            </a:avLst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0" y="932688"/>
            <a:ext cx="365760" cy="36576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389120" y="932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114800" y="1371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4105656" y="1810512"/>
            <a:ext cx="932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069080" y="27432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models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084064" y="1965960"/>
            <a:ext cx="91440" cy="0"/>
          </a:xfrm>
          <a:prstGeom prst="line">
            <a:avLst/>
          </a:prstGeom>
          <a:noFill/>
          <a:ln w="19050">
            <a:solidFill>
              <a:srgbClr val="3A6B48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5184648" y="1280160"/>
            <a:ext cx="1005840" cy="1371600"/>
          </a:xfrm>
          <a:prstGeom prst="roundRect">
            <a:avLst>
              <a:gd name="adj" fmla="val 7273"/>
            </a:avLst>
          </a:prstGeom>
          <a:solidFill>
            <a:srgbClr val="3A6B48"/>
          </a:solidFill>
          <a:ln w="12700">
            <a:solidFill>
              <a:srgbClr val="3A6B4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04688" y="932688"/>
            <a:ext cx="365760" cy="36576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504688" y="932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230368" y="1371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5221224" y="1810512"/>
            <a:ext cx="932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184648" y="27432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tables as seed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99632" y="1965960"/>
            <a:ext cx="91440" cy="0"/>
          </a:xfrm>
          <a:prstGeom prst="line">
            <a:avLst/>
          </a:prstGeom>
          <a:noFill/>
          <a:ln w="19050">
            <a:solidFill>
              <a:srgbClr val="3A6B48"/>
            </a:solidFill>
            <a:prstDash val="solid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6300216" y="1280160"/>
            <a:ext cx="1005840" cy="1371600"/>
          </a:xfrm>
          <a:prstGeom prst="roundRect">
            <a:avLst>
              <a:gd name="adj" fmla="val 7273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20256" y="932688"/>
            <a:ext cx="365760" cy="36576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620256" y="932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345936" y="1371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🛠️</a:t>
            </a:r>
            <a:endParaRPr lang="en-US" sz="2200" dirty="0"/>
          </a:p>
        </p:txBody>
      </p:sp>
      <p:sp>
        <p:nvSpPr>
          <p:cNvPr id="44" name="Text 42"/>
          <p:cNvSpPr txBox="1"/>
          <p:nvPr/>
        </p:nvSpPr>
        <p:spPr>
          <a:xfrm>
            <a:off x="6336792" y="1810512"/>
            <a:ext cx="932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300216" y="27432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query_energy etc.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315200" y="1965960"/>
            <a:ext cx="91440" cy="0"/>
          </a:xfrm>
          <a:prstGeom prst="line">
            <a:avLst/>
          </a:prstGeom>
          <a:noFill/>
          <a:ln w="19050">
            <a:solidFill>
              <a:srgbClr val="3A6B48"/>
            </a:solidFill>
            <a:prstDash val="solid"/>
            <a:tailEnd type="arrow"/>
          </a:ln>
        </p:spPr>
      </p:sp>
      <p:sp>
        <p:nvSpPr>
          <p:cNvPr id="47" name="Shape 45"/>
          <p:cNvSpPr/>
          <p:nvPr/>
        </p:nvSpPr>
        <p:spPr>
          <a:xfrm>
            <a:off x="7415784" y="1280160"/>
            <a:ext cx="1005840" cy="1371600"/>
          </a:xfrm>
          <a:prstGeom prst="roundRect">
            <a:avLst>
              <a:gd name="adj" fmla="val 7273"/>
            </a:avLst>
          </a:prstGeom>
          <a:solidFill>
            <a:srgbClr val="C47F00"/>
          </a:solidFill>
          <a:ln w="12700">
            <a:solidFill>
              <a:srgbClr val="C47F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735824" y="932688"/>
            <a:ext cx="365760" cy="36576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735824" y="932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7461504" y="1371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51" name="Text 49"/>
          <p:cNvSpPr txBox="1"/>
          <p:nvPr/>
        </p:nvSpPr>
        <p:spPr>
          <a:xfrm>
            <a:off x="7452360" y="1810512"/>
            <a:ext cx="932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7415784" y="27432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advice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365760" y="32461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agent tools (query_energy_usage, query_solar_generation) work identically whether records came from seed_data.py or real imported files.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274320" y="48920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EcoHome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8046720" y="48920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7F2"/>
          </a:solidFill>
          <a:ln w="12700">
            <a:solidFill>
              <a:srgbClr val="F9F7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5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Sample: Utility Smart Meter CSV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D4EDD9"/>
          </a:solidFill>
          <a:ln w="12700">
            <a:solidFill>
              <a:srgbClr val="D4ED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896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Button / ESPI Format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CSV Columns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4059936" cy="402336"/>
          </a:xfrm>
          <a:prstGeom prst="rect">
            <a:avLst/>
          </a:prstGeom>
          <a:solidFill>
            <a:srgbClr val="F9F7F2"/>
          </a:solidFill>
          <a:ln w="12700">
            <a:solidFill>
              <a:srgbClr val="F9F7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18653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810512" y="186537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YYYY-MM-DD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71800" y="1901952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71800" y="1901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2267712"/>
            <a:ext cx="405993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23042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start_time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810512" y="23042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HH:MM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2340864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71800" y="23408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2706624"/>
            <a:ext cx="4059936" cy="402336"/>
          </a:xfrm>
          <a:prstGeom prst="rect">
            <a:avLst/>
          </a:prstGeom>
          <a:solidFill>
            <a:srgbClr val="F9F7F2"/>
          </a:solidFill>
          <a:ln w="12700">
            <a:solidFill>
              <a:srgbClr val="F9F7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" y="27432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end_time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810512" y="27432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HH:MM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71800" y="2779776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971800" y="27797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" y="3145536"/>
            <a:ext cx="405993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1480" y="31821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usage_kwh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810512" y="31821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71800" y="3218688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971800" y="32186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" y="3584448"/>
            <a:ext cx="4059936" cy="402336"/>
          </a:xfrm>
          <a:prstGeom prst="rect">
            <a:avLst/>
          </a:prstGeom>
          <a:solidFill>
            <a:srgbClr val="F9F7F2"/>
          </a:solidFill>
          <a:ln w="12700">
            <a:solidFill>
              <a:srgbClr val="F9F7F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11480" y="36210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cost_usd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810512" y="362102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971800" y="365760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971800" y="3657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7472" y="4023360"/>
            <a:ext cx="405993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11480" y="405993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meter_id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810512" y="405993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971800" y="4096512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971800" y="40965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1298448"/>
            <a:ext cx="4160520" cy="1664208"/>
          </a:xfrm>
          <a:prstGeom prst="roundRect">
            <a:avLst>
              <a:gd name="adj" fmla="val 5495"/>
            </a:avLst>
          </a:prstGeom>
          <a:solidFill>
            <a:srgbClr val="1A2B1F"/>
          </a:solidFill>
          <a:ln w="12700">
            <a:solidFill>
              <a:srgbClr val="1A2B1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0060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Row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800600" y="1737360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2024-09-15, 14:00, 15:00,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1.234, 0.198, METER_001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800600" y="24231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 interval smart meter format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3090672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D4EDD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800600" y="3182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SQLAlchemy Mapping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4800600" y="3493008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5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EnergyUsage(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5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timestamp  =  date + start_time,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5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device_name = "Smart Meter",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5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device_category = "Appliance",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5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consumption_kwh = usage_kwh,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5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cost_usd = cost_usd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5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274320" y="48920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EcoHome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8046720" y="48920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7F2"/>
          </a:solidFill>
          <a:ln w="12700">
            <a:solidFill>
              <a:srgbClr val="F9F7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5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Sample: SolarEdge / Enphase Export CSV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1480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4114800" cy="438912"/>
          </a:xfrm>
          <a:prstGeom prst="roundRect">
            <a:avLst>
              <a:gd name="adj" fmla="val 20833"/>
            </a:avLst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4114800" cy="210312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SolarEdge Export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481328"/>
            <a:ext cx="4059936" cy="393192"/>
          </a:xfrm>
          <a:prstGeom prst="rect">
            <a:avLst/>
          </a:prstGeom>
          <a:solidFill>
            <a:srgbClr val="F9F7F2"/>
          </a:solidFill>
          <a:ln w="12700">
            <a:solidFill>
              <a:srgbClr val="F9F7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8912" y="152704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395728" y="1527048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YYYY-MM-DD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1911096"/>
            <a:ext cx="405993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8912" y="1956816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395728" y="1956816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0-23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2340864"/>
            <a:ext cx="4059936" cy="393192"/>
          </a:xfrm>
          <a:prstGeom prst="rect">
            <a:avLst/>
          </a:prstGeom>
          <a:solidFill>
            <a:srgbClr val="F9F7F2"/>
          </a:solidFill>
          <a:ln w="12700">
            <a:solidFill>
              <a:srgbClr val="F9F7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8912" y="2386584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(Wh)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395728" y="2386584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1000 → kWh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2770632"/>
            <a:ext cx="405993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8912" y="281635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(W)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395728" y="2816352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wattage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3200400"/>
            <a:ext cx="4059936" cy="393192"/>
          </a:xfrm>
          <a:prstGeom prst="rect">
            <a:avLst/>
          </a:prstGeom>
          <a:solidFill>
            <a:srgbClr val="F9F7F2"/>
          </a:solidFill>
          <a:ln w="12700">
            <a:solidFill>
              <a:srgbClr val="F9F7F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8912" y="324612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395728" y="324612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°C (panel temp)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960120"/>
            <a:ext cx="411480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960120"/>
            <a:ext cx="4114800" cy="438912"/>
          </a:xfrm>
          <a:prstGeom prst="roundRect">
            <a:avLst>
              <a:gd name="adj" fmla="val 20833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1188720"/>
            <a:ext cx="4114800" cy="21031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28032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Enphase Export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36592" y="1481328"/>
            <a:ext cx="4059936" cy="393192"/>
          </a:xfrm>
          <a:prstGeom prst="rect">
            <a:avLst/>
          </a:prstGeom>
          <a:solidFill>
            <a:srgbClr val="F9F7F2"/>
          </a:solidFill>
          <a:ln w="12700">
            <a:solidFill>
              <a:srgbClr val="F9F7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28032" y="152704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date_time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784848" y="1527048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8601 timestamp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36592" y="1911096"/>
            <a:ext cx="405993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28032" y="1956816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production_wh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784848" y="1956816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1000 → gen kWh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36592" y="2340864"/>
            <a:ext cx="4059936" cy="393192"/>
          </a:xfrm>
          <a:prstGeom prst="rect">
            <a:avLst/>
          </a:prstGeom>
          <a:solidFill>
            <a:srgbClr val="F9F7F2"/>
          </a:solidFill>
          <a:ln w="12700">
            <a:solidFill>
              <a:srgbClr val="F9F7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28032" y="2386584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consumption_wh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784848" y="2386584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1000 → usage kWh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36592" y="2770632"/>
            <a:ext cx="405993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828032" y="281635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net_wh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784848" y="2816352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1000 → export/import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3913632"/>
            <a:ext cx="8503920" cy="713232"/>
          </a:xfrm>
          <a:prstGeom prst="roundRect">
            <a:avLst>
              <a:gd name="adj" fmla="val 12821"/>
            </a:avLst>
          </a:prstGeom>
          <a:solidFill>
            <a:srgbClr val="D4EDD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02920" y="40050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5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Both map to →  SolarGeneration(timestamp, generation_kwh, panel_capacity_kw=10.0, temperature_c, irradiance_wm2)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274320" y="48920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EcoHome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8046720" y="48920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7F2"/>
          </a:solidFill>
          <a:ln w="12700">
            <a:solidFill>
              <a:srgbClr val="F9F7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5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Plug In Your Own Energy Tips  (RAG)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93776" cy="493776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10515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1005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 Rate Schedule PDF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utility's exact pricing tiers and hours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1664208"/>
            <a:ext cx="33375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847088"/>
            <a:ext cx="493776" cy="493776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" y="18196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41832" y="17739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Panel Datasheet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41832" y="20482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model, watt rating, degradation curve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2432304"/>
            <a:ext cx="33375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615184"/>
            <a:ext cx="493776" cy="493776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0040" y="25877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41832" y="2542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Energy Audit Report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41832" y="28163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Room-by-room efficiency findings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" y="3200400"/>
            <a:ext cx="33375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383280"/>
            <a:ext cx="493776" cy="493776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0040" y="33558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📘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33101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 User Manuals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41832" y="35844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specs and scheduling features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" y="3968496"/>
            <a:ext cx="33375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151376"/>
            <a:ext cx="493776" cy="493776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0040" y="41239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💵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" y="40782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Rebate Guidelines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43525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incentive eligibility criteria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914400"/>
            <a:ext cx="402336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98348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Pipeline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937760" y="1508760"/>
            <a:ext cx="384048" cy="384048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3776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13248" y="1463040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Drop .txt / .pdf / .docx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data/documents/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129784" y="1892808"/>
            <a:ext cx="0" cy="164592"/>
          </a:xfrm>
          <a:prstGeom prst="line">
            <a:avLst/>
          </a:prstGeom>
          <a:noFill/>
          <a:ln w="12700">
            <a:solidFill>
              <a:srgbClr val="4A7C59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4937760" y="2112264"/>
            <a:ext cx="384048" cy="384048"/>
          </a:xfrm>
          <a:prstGeom prst="ellipse">
            <a:avLst/>
          </a:prstGeom>
          <a:solidFill>
            <a:srgbClr val="3A6B48"/>
          </a:solidFill>
          <a:ln w="12700">
            <a:solidFill>
              <a:srgbClr val="3A6B4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937760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413248" y="2066544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 Text Splitter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800-char chunks, 100-char overlap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129784" y="2496312"/>
            <a:ext cx="0" cy="164592"/>
          </a:xfrm>
          <a:prstGeom prst="line">
            <a:avLst/>
          </a:prstGeom>
          <a:noFill/>
          <a:ln w="12700">
            <a:solidFill>
              <a:srgbClr val="4A7C59"/>
            </a:solidFill>
            <a:prstDash val="solid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4937760" y="2715768"/>
            <a:ext cx="384048" cy="384048"/>
          </a:xfrm>
          <a:prstGeom prst="ellipse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93776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413248" y="267004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OpenAI Embeddings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 (1536-dim)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129784" y="3099816"/>
            <a:ext cx="0" cy="164592"/>
          </a:xfrm>
          <a:prstGeom prst="line">
            <a:avLst/>
          </a:prstGeom>
          <a:noFill/>
          <a:ln w="12700">
            <a:solidFill>
              <a:srgbClr val="4A7C59"/>
            </a:solidFill>
            <a:prstDash val="solid"/>
            <a:tailEnd type="arrow"/>
          </a:ln>
        </p:spPr>
      </p:sp>
      <p:sp>
        <p:nvSpPr>
          <p:cNvPr id="43" name="Shape 41"/>
          <p:cNvSpPr/>
          <p:nvPr/>
        </p:nvSpPr>
        <p:spPr>
          <a:xfrm>
            <a:off x="4937760" y="3319272"/>
            <a:ext cx="384048" cy="38404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937760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413248" y="3273552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ChromaDB Vector Store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cosine-similarity index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129784" y="3703320"/>
            <a:ext cx="0" cy="164592"/>
          </a:xfrm>
          <a:prstGeom prst="line">
            <a:avLst/>
          </a:prstGeom>
          <a:noFill/>
          <a:ln w="12700">
            <a:solidFill>
              <a:srgbClr val="4A7C59"/>
            </a:solidFill>
            <a:prstDash val="solid"/>
            <a:tailEnd type="arrow"/>
          </a:ln>
        </p:spPr>
      </p:sp>
      <p:sp>
        <p:nvSpPr>
          <p:cNvPr id="47" name="Shape 45"/>
          <p:cNvSpPr/>
          <p:nvPr/>
        </p:nvSpPr>
        <p:spPr>
          <a:xfrm>
            <a:off x="4937760" y="3922776"/>
            <a:ext cx="384048" cy="384048"/>
          </a:xfrm>
          <a:prstGeom prst="ellipse">
            <a:avLst/>
          </a:prstGeom>
          <a:solidFill>
            <a:srgbClr val="C47F00"/>
          </a:solidFill>
          <a:ln w="12700">
            <a:solidFill>
              <a:srgbClr val="C47F0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937760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5413248" y="3877056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Agent cites YOUR docs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answering questions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274320" y="48920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EcoHome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8046720" y="48920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7F2"/>
          </a:solidFill>
          <a:ln w="12700">
            <a:solidFill>
              <a:srgbClr val="F9F7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5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Agent Can Do — Before Seeding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4069080" cy="3767328"/>
          </a:xfrm>
          <a:prstGeom prst="roundRect">
            <a:avLst>
              <a:gd name="adj" fmla="val 2427"/>
            </a:avLst>
          </a:prstGeom>
          <a:solidFill>
            <a:srgbClr val="D4EDD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32688"/>
            <a:ext cx="4069080" cy="457200"/>
          </a:xfrm>
          <a:prstGeom prst="roundRect">
            <a:avLst>
              <a:gd name="adj" fmla="val 20000"/>
            </a:avLst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4069080" cy="20116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98755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Works WITHOUT Database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38912" y="15087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15087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get_weather_forecast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17556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weather simulation — no DB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" y="20574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057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get_electricity_prices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3042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 rules engine — no DB needed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" y="26060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606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search_energy_tips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28529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once RAG is set up (setup_rag.py)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" y="3154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154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calculate_savings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4015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pricing fallback built-in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38912" y="37033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37033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energy advice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39502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+ system prompt + RAG tips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932688"/>
            <a:ext cx="4069080" cy="3767328"/>
          </a:xfrm>
          <a:prstGeom prst="roundRect">
            <a:avLst>
              <a:gd name="adj" fmla="val 2427"/>
            </a:avLst>
          </a:prstGeom>
          <a:solidFill>
            <a:srgbClr val="FFF3CD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932688"/>
            <a:ext cx="4069080" cy="457200"/>
          </a:xfrm>
          <a:prstGeom prst="roundRect">
            <a:avLst>
              <a:gd name="adj" fmla="val 20000"/>
            </a:avLst>
          </a:prstGeom>
          <a:solidFill>
            <a:srgbClr val="C47F00"/>
          </a:solidFill>
          <a:ln w="12700">
            <a:solidFill>
              <a:srgbClr val="C47F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1188720"/>
            <a:ext cx="4069080" cy="201168"/>
          </a:xfrm>
          <a:prstGeom prst="rect">
            <a:avLst/>
          </a:prstGeom>
          <a:solidFill>
            <a:srgbClr val="C47F00"/>
          </a:solidFill>
          <a:ln w="12700">
            <a:solidFill>
              <a:srgbClr val="C47F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64608" y="9875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Requires Database / File Import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828032" y="150876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212080" y="15087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query_energy_usage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212080" y="1764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actual device usage records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828032" y="21031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212080" y="2103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query_solar_generation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212080" y="2359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real solar generation rows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828032" y="269748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212080" y="26974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recommendations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212080" y="2953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your specific usage history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828032" y="32918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212080" y="3291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savings calculations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21208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your actual cost data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274320" y="48920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EcoHome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8046720" y="48920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7F2"/>
          </a:solidFill>
          <a:ln w="12700">
            <a:solidFill>
              <a:srgbClr val="F9F7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5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Import Your Actual Files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1480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161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1216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50392" y="1014984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Export from Utility Portal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1344168"/>
            <a:ext cx="3456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your utility's website (PG&amp;E, ComEd, SCE…)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Button → "Download My Data" → CSV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26280" y="960120"/>
            <a:ext cx="411480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2161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1216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056632" y="1014984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Export from Solar Inverter App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56632" y="1344168"/>
            <a:ext cx="3456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SolarEdge: Reports → Energy → Export CSV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Enphase: My Enlighten → Production History → Export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020824"/>
            <a:ext cx="411480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27685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1480" y="2276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" y="2075688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Export EV Charge Logs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" y="2404872"/>
            <a:ext cx="3456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ChargePoint / Tesla / Wallbox / JuiceBox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In-app: History → Export or CSV Download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26280" y="2020824"/>
            <a:ext cx="411480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227685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17720" y="2276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056632" y="2075688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Drop Files into Project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056632" y="2404872"/>
            <a:ext cx="3456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files in:  ecohome_solution/data/imports/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081528"/>
            <a:ext cx="411480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33756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11480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50392" y="3136392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Run Import Parser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50392" y="3465576"/>
            <a:ext cx="3456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import_data.py --source utility.csv --type smart_meter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import_data.py --source solar.csv --type solar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26280" y="3081528"/>
            <a:ext cx="411480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17720" y="333756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17720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056632" y="3136392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Add Docs &amp; Launch UI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056632" y="3465576"/>
            <a:ext cx="3456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.txt / .pdf → data/documents/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setup_rag.py   then   streamlit run app.py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274320" y="48920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EcoHome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8046720" y="48920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7F2"/>
          </a:solidFill>
          <a:ln w="12700">
            <a:solidFill>
              <a:srgbClr val="F9F7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5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Data vs Synthetic Seed — What Changes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2834640" cy="402336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9601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27248" y="932688"/>
            <a:ext cx="2651760" cy="40233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18688" y="9601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Synthetic Seed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97296" y="932688"/>
            <a:ext cx="3072384" cy="402336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88736" y="96012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Real External Files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371600"/>
            <a:ext cx="283464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27248" y="1371600"/>
            <a:ext cx="26517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97296" y="1371600"/>
            <a:ext cx="307238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4048" y="143560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218688" y="143560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household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888736" y="1435608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YOUR specific devices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892808"/>
            <a:ext cx="2834640" cy="484632"/>
          </a:xfrm>
          <a:prstGeom prst="rect">
            <a:avLst/>
          </a:prstGeom>
          <a:solidFill>
            <a:srgbClr val="F9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27248" y="1892808"/>
            <a:ext cx="2651760" cy="484632"/>
          </a:xfrm>
          <a:prstGeom prst="rect">
            <a:avLst/>
          </a:prstGeom>
          <a:solidFill>
            <a:srgbClr val="F9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97296" y="1892808"/>
            <a:ext cx="3072384" cy="484632"/>
          </a:xfrm>
          <a:prstGeom prst="rect">
            <a:avLst/>
          </a:prstGeom>
          <a:solidFill>
            <a:srgbClr val="F9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4048" y="195681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218688" y="195681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Randomised estimates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888736" y="1956816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Actual measured values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414016"/>
            <a:ext cx="283464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27248" y="2414016"/>
            <a:ext cx="26517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97296" y="2414016"/>
            <a:ext cx="307238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84048" y="247802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calcs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218688" y="247802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888736" y="2478024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Exact to your bill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2935224"/>
            <a:ext cx="2834640" cy="484632"/>
          </a:xfrm>
          <a:prstGeom prst="rect">
            <a:avLst/>
          </a:prstGeom>
          <a:solidFill>
            <a:srgbClr val="F9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27248" y="2935224"/>
            <a:ext cx="2651760" cy="484632"/>
          </a:xfrm>
          <a:prstGeom prst="rect">
            <a:avLst/>
          </a:prstGeom>
          <a:solidFill>
            <a:srgbClr val="F9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97296" y="2935224"/>
            <a:ext cx="3072384" cy="484632"/>
          </a:xfrm>
          <a:prstGeom prst="rect">
            <a:avLst/>
          </a:prstGeom>
          <a:solidFill>
            <a:srgbClr val="F9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84048" y="299923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production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3218688" y="299923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by weather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888736" y="2999232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Actual inverter output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3456432"/>
            <a:ext cx="283464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27248" y="3456432"/>
            <a:ext cx="26517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97296" y="3456432"/>
            <a:ext cx="307238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84048" y="352044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3218688" y="352044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best practices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888736" y="352044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Based on your patterns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3977640"/>
            <a:ext cx="2834640" cy="484632"/>
          </a:xfrm>
          <a:prstGeom prst="rect">
            <a:avLst/>
          </a:prstGeom>
          <a:solidFill>
            <a:srgbClr val="F9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27248" y="3977640"/>
            <a:ext cx="2651760" cy="484632"/>
          </a:xfrm>
          <a:prstGeom prst="rect">
            <a:avLst/>
          </a:prstGeom>
          <a:solidFill>
            <a:srgbClr val="F9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97296" y="3977640"/>
            <a:ext cx="3072384" cy="484632"/>
          </a:xfrm>
          <a:prstGeom prst="rect">
            <a:avLst/>
          </a:prstGeom>
          <a:solidFill>
            <a:srgbClr val="F9F7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84048" y="404164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3218688" y="404164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daily usage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5888736" y="4041648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Your actual sessions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74320" y="4498848"/>
            <a:ext cx="283464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27248" y="4498848"/>
            <a:ext cx="26517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797296" y="4498848"/>
            <a:ext cx="3072384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84048" y="456285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tracking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3218688" y="456285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rates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5888736" y="4562856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Your utility's exact rates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274320" y="48920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EcoHome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8046720" y="48920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7F2"/>
          </a:solidFill>
          <a:ln w="12700">
            <a:solidFill>
              <a:srgbClr val="F9F7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5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Base: Before vs After Your Docs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1440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61288"/>
            <a:ext cx="4023360" cy="21031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960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BEFORE  (Default Documents)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5087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7 generic energy-saving tip files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193852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General EV, HVAC, solar, storage guidance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236829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Applies to any household generically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2798064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local rates, no specific device models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322783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Advice is accurate but not personalised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91440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D4EDD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91440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1161288"/>
            <a:ext cx="4023360" cy="210312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37760" y="960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AFTER  (Your Own Documents)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956048" y="15087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Utility rate schedule PDF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956048" y="17190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Precise pricing advice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956048" y="19385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Solar system datasheet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956048" y="2148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Accurate generation estimates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956048" y="236829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Local rebate guides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956048" y="25786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Real incentive calculations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956048" y="27980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Energy audit report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956048" y="30083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Room-by-room recommendations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956048" y="32278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Appliance manuals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956048" y="34381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Device-specific scheduling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462272"/>
            <a:ext cx="8503920" cy="438912"/>
          </a:xfrm>
          <a:prstGeom prst="roundRect">
            <a:avLst>
              <a:gd name="adj" fmla="val 20833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02920" y="4507992"/>
            <a:ext cx="8275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Result: The agent cites YOUR documents and gives hyperlocal, personalised energy advice.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74320" y="48920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EcoHome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8046720" y="48920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286000"/>
            <a:ext cx="4114800" cy="4114800"/>
          </a:xfrm>
          <a:prstGeom prst="ellipse">
            <a:avLst/>
          </a:prstGeom>
          <a:solidFill>
            <a:srgbClr val="3A6B48"/>
          </a:solidFill>
          <a:ln w="12700">
            <a:solidFill>
              <a:srgbClr val="3A6B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Started with Real Data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3977640" cy="3566160"/>
          </a:xfrm>
          <a:prstGeom prst="roundRect">
            <a:avLst>
              <a:gd name="adj" fmla="val 2564"/>
            </a:avLst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" y="11155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TODAY — Works Now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75488" y="16002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RAG pipeline with 7 knowledge documents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213055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Weather forecast tool (live simulation)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75488" y="266090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TOU pricing engine (no DB required)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75488" y="319125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Synthetic 30-day demo data via seed_data.py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" y="372160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 Streamlit chat UI at localhost:8501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005840"/>
            <a:ext cx="3977640" cy="3566160"/>
          </a:xfrm>
          <a:prstGeom prst="roundRect">
            <a:avLst>
              <a:gd name="adj" fmla="val 2564"/>
            </a:avLst>
          </a:prstGeom>
          <a:solidFill>
            <a:srgbClr val="FFF3CD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09160" y="111556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NEXT — Bring Real Data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81728" y="159105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📥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084064" y="162763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utility CSV (Green Button)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681728" y="21214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☀️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084064" y="21579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history from SolarEdge/Enphase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681728" y="2651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🚗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084064" y="268833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charge logs from ChargePoint/Tesla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681728" y="318211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084064" y="321868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custom docs to data/documents/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681728" y="371246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084064" y="37490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setup_rag.py + streamlit run app.py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agent gets smarter with every real file you add."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74320" y="48920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EcoHome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48920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2026-09-30T08:37:04Z</dcterms:created>
  <dcterms:modified xsi:type="dcterms:W3CDTF">2026-09-30T08:37:04Z</dcterms:modified>
</cp:coreProperties>
</file>